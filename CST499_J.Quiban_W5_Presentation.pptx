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70" r:id="rId4"/>
    <p:sldId id="271" r:id="rId5"/>
    <p:sldId id="272" r:id="rId6"/>
    <p:sldId id="261" r:id="rId7"/>
    <p:sldId id="262" r:id="rId8"/>
    <p:sldId id="263" r:id="rId9"/>
    <p:sldId id="264"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8" dt="2026-09-06T23:29:33.893"/>
    <p1510:client id="{6075B3D4-D43A-2708-5036-CDDE5AC5AE2B}" v="92" dt="2026-09-07T00:23:56.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B7DD437-77F6-46F1-A3A5-3D7FA32E1512}" type="datetimeFigureOut">
              <a:t>9/6/2026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F6FED04-D526-405E-B8D6-A107E0BF0326}" type="slidenum">
              <a:t>‹#›</a:t>
            </a:fld>
            <a:endParaRPr lang="en-US"/>
          </a:p>
        </p:txBody>
      </p:sp>
    </p:spTree>
    <p:extLst>
      <p:ext uri="{BB962C8B-B14F-4D97-AF65-F5344CB8AC3E}">
        <p14:creationId xmlns:p14="http://schemas.microsoft.com/office/powerpoint/2010/main" val="351609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Jomar Quiban. This presentation summarizes my CST499 capstone project, the Online Course Registration System. I will cover the requirements captured in the SRS, the UML design models, the website interface, the MySQL database, the PHP implementation, and the completed class-registration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addresses the problem of online course enrollment. The solution is a web application where the student is the primary user. The project progressed from requirements in Week 1, to UML design in Week 2, to PHP and MySQL implementation in Weeks 3 and 4, and finally to this compiled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SRS defines the system around two high-priority feature groups. The first is user registration and authentication. The second is course registration and waitlist management. The requirements also establish semester-based course listings, course-capacity rules, cancellation behavior, security requirements, and quality attributes. These requirements became the design and implementation baseline for the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UML work provides the design bridge between requirements and implementation. The use case model identifies the student interactions. The class model defines the main data objects and relationships. The activity model captures the enrollment workflow. The sequence model shows the time-ordered communication between the student, interface, registration logic, database, and notification service. The state model represents how a course enrollment moves between not-enrolled, waitlisted, offered, enrolled, and cancelled states.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model is especially important for the course-registration requirement. A student can start not enrolled, move directly to enrolled when a seat is available, or become waitlisted when the class is full. When a seat becomes available, the first student can be offered the seat and then transition to enrolled. An enrolled student can also cancel the enrollment.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actual screenshots from the completed website. The landing page introduces the system and routes the student to authentication. The login page validates credentials and creates an authenticated session. The registration page collects the required account and personal information and validates it before storing the record. The consistent header and card-based layout make the pages feel like one product.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enrollment page is database-driven. The course catalog displays current course information and changes the available action based on the student state. An open course that is not already selected shows Enroll. A course already on the schedule shows Drop. A full course is unavailable. The My Schedule page joins enrollment data to course data and shows the student’s current classes.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MySQL layer is organized around students, courses, and enrollments. The enrollment table acts as the join table between students and courses. Unique and foreign-key constraints help enforce data integrity. The application checks capacity before inserting an enrollment, and dropping a course removes the corresponding enrollment row. The database screenshot shown here is from the actual project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PHP implementation is organized around reusable database access and focused page responsibilities. The project uses a custom database connection class, registration and login logic, and an enrollment action endpoint. Prepared statements, server-side validation, password hashing, authenticated sessions, and capacity checking are used to support the core workflow. The screenshots on this slide are actual source-code captures from the project presentation.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the project demonstrates the progression from software requirements to UML design and then to PHP and MySQL implementation. The final product supports the core registration and schedule-management workflow, and the data changes can be verified directly in the database. The main lesson is the importance of traceability, reusable design, data integrity, and verification throughout the software development life cycle.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used for the project and presentation. The presentation is grounded in the submitted SRS and UML documents, with software-engineering texts supporting the broader design and development concepts.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02A43"/>
          </a:solidFill>
          <a:ln w="12700">
            <a:solidFill>
              <a:srgbClr val="102A43"/>
            </a:solidFill>
            <a:prstDash val="solid"/>
          </a:ln>
        </p:spPr>
      </p:sp>
      <p:sp>
        <p:nvSpPr>
          <p:cNvPr id="3" name="Text 1"/>
          <p:cNvSpPr/>
          <p:nvPr/>
        </p:nvSpPr>
        <p:spPr>
          <a:xfrm>
            <a:off x="411480" y="6473952"/>
            <a:ext cx="5943600" cy="182880"/>
          </a:xfrm>
          <a:prstGeom prst="rect">
            <a:avLst/>
          </a:prstGeom>
          <a:noFill/>
          <a:ln/>
        </p:spPr>
        <p:txBody>
          <a:bodyPr wrap="square" lIns="0" tIns="0" rIns="0" bIns="0" rtlCol="0" anchor="ctr"/>
          <a:lstStyle/>
          <a:p>
            <a:pPr marL="0" indent="0">
              <a:buNone/>
            </a:pPr>
            <a:r>
              <a:rPr lang="en-US" sz="800" dirty="0">
                <a:solidFill>
                  <a:srgbClr val="627D98"/>
                </a:solidFill>
                <a:latin typeface="Aptos" pitchFamily="34" charset="0"/>
                <a:ea typeface="Aptos" pitchFamily="34" charset="-122"/>
                <a:cs typeface="Aptos" pitchFamily="34" charset="-120"/>
              </a:rPr>
              <a:t>CST499 • Online Course Registration System</a:t>
            </a:r>
            <a:endParaRPr lang="en-US" sz="800" dirty="0"/>
          </a:p>
        </p:txBody>
      </p:sp>
      <p:sp>
        <p:nvSpPr>
          <p:cNvPr id="4" name="Text 2"/>
          <p:cNvSpPr/>
          <p:nvPr/>
        </p:nvSpPr>
        <p:spPr>
          <a:xfrm>
            <a:off x="9326880" y="6473952"/>
            <a:ext cx="2377440" cy="182880"/>
          </a:xfrm>
          <a:prstGeom prst="rect">
            <a:avLst/>
          </a:prstGeom>
          <a:noFill/>
          <a:ln/>
        </p:spPr>
        <p:txBody>
          <a:bodyPr wrap="square" lIns="0" tIns="0" rIns="0" bIns="0" rtlCol="0" anchor="ctr"/>
          <a:lstStyle/>
          <a:p>
            <a:pPr marL="0" indent="0" algn="r">
              <a:buNone/>
            </a:pPr>
            <a:r>
              <a:rPr lang="en-US" sz="800" dirty="0">
                <a:solidFill>
                  <a:srgbClr val="627D98"/>
                </a:solidFill>
                <a:latin typeface="Aptos" pitchFamily="34" charset="0"/>
                <a:ea typeface="Aptos" pitchFamily="34" charset="-122"/>
                <a:cs typeface="Aptos" pitchFamily="34" charset="-120"/>
              </a:rPr>
              <a:t>Jomar P. Quiban</a:t>
            </a:r>
            <a:endParaRPr lang="en-US" sz="80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731520" y="1051560"/>
            <a:ext cx="10744200" cy="4480560"/>
          </a:xfrm>
          <a:prstGeom prst="roundRect">
            <a:avLst>
              <a:gd name="adj" fmla="val 1633"/>
            </a:avLst>
          </a:prstGeom>
          <a:solidFill>
            <a:srgbClr val="163A5F">
              <a:alpha val="90000"/>
            </a:srgbClr>
          </a:solidFill>
          <a:ln w="12700">
            <a:solidFill>
              <a:srgbClr val="486581">
                <a:alpha val="60000"/>
              </a:srgbClr>
            </a:solidFill>
            <a:prstDash val="solid"/>
          </a:ln>
        </p:spPr>
      </p:sp>
      <p:sp>
        <p:nvSpPr>
          <p:cNvPr id="3" name="Text 1"/>
          <p:cNvSpPr/>
          <p:nvPr/>
        </p:nvSpPr>
        <p:spPr>
          <a:xfrm>
            <a:off x="1097280" y="1417320"/>
            <a:ext cx="9966960" cy="274320"/>
          </a:xfrm>
          <a:prstGeom prst="rect">
            <a:avLst/>
          </a:prstGeom>
          <a:noFill/>
          <a:ln/>
        </p:spPr>
        <p:txBody>
          <a:bodyPr wrap="square" lIns="0" tIns="0" rIns="0" bIns="0" rtlCol="0" anchor="ctr"/>
          <a:lstStyle/>
          <a:p>
            <a:pPr algn="ctr"/>
            <a:r>
              <a:rPr lang="en-US" sz="1500" b="1" dirty="0">
                <a:solidFill>
                  <a:srgbClr val="D9E2EC"/>
                </a:solidFill>
              </a:rPr>
              <a:t>WEEK 5: FINAL PROJECT</a:t>
            </a:r>
            <a:endParaRPr lang="en-US" sz="1500" dirty="0"/>
          </a:p>
        </p:txBody>
      </p:sp>
      <p:sp>
        <p:nvSpPr>
          <p:cNvPr id="4" name="Text 2"/>
          <p:cNvSpPr/>
          <p:nvPr/>
        </p:nvSpPr>
        <p:spPr>
          <a:xfrm>
            <a:off x="1097280" y="1874520"/>
            <a:ext cx="9966960" cy="1234440"/>
          </a:xfrm>
          <a:prstGeom prst="rect">
            <a:avLst/>
          </a:prstGeom>
          <a:noFill/>
          <a:ln/>
        </p:spPr>
        <p:txBody>
          <a:bodyPr wrap="square" lIns="0" tIns="0" rIns="0" bIns="0" rtlCol="0" anchor="ctr"/>
          <a:lstStyle/>
          <a:p>
            <a:pPr marL="0" indent="0" algn="ctr">
              <a:buNone/>
            </a:pPr>
            <a:r>
              <a:rPr lang="en-US" sz="3400" b="1" dirty="0">
                <a:solidFill>
                  <a:srgbClr val="FFFFFF"/>
                </a:solidFill>
              </a:rPr>
              <a:t>Online Course</a:t>
            </a:r>
            <a:endParaRPr lang="en-US" sz="3400" dirty="0"/>
          </a:p>
          <a:p>
            <a:pPr marL="0" indent="0" algn="ctr">
              <a:buNone/>
            </a:pPr>
            <a:r>
              <a:rPr lang="en-US" sz="3400" b="1" dirty="0">
                <a:solidFill>
                  <a:srgbClr val="FFFFFF"/>
                </a:solidFill>
              </a:rPr>
              <a:t>Registration System</a:t>
            </a:r>
            <a:endParaRPr lang="en-US" sz="3400" dirty="0"/>
          </a:p>
        </p:txBody>
      </p:sp>
      <p:sp>
        <p:nvSpPr>
          <p:cNvPr id="5" name="Text 3"/>
          <p:cNvSpPr/>
          <p:nvPr/>
        </p:nvSpPr>
        <p:spPr>
          <a:xfrm>
            <a:off x="1097280" y="3246120"/>
            <a:ext cx="9966960" cy="320040"/>
          </a:xfrm>
          <a:prstGeom prst="rect">
            <a:avLst/>
          </a:prstGeom>
          <a:noFill/>
          <a:ln/>
        </p:spPr>
        <p:txBody>
          <a:bodyPr wrap="square" lIns="0" tIns="0" rIns="0" bIns="0" rtlCol="0" anchor="ctr"/>
          <a:lstStyle/>
          <a:p>
            <a:pPr marL="0" indent="0" algn="ctr">
              <a:buNone/>
            </a:pPr>
            <a:r>
              <a:rPr lang="en-US" sz="1500" dirty="0">
                <a:solidFill>
                  <a:srgbClr val="D9E2EC"/>
                </a:solidFill>
              </a:rPr>
              <a:t>Requirements • UML Design • PHP/MySQL Implementation • Class Registration</a:t>
            </a:r>
            <a:endParaRPr lang="en-US" sz="1500" dirty="0"/>
          </a:p>
        </p:txBody>
      </p:sp>
      <p:sp>
        <p:nvSpPr>
          <p:cNvPr id="6" name="Text 4"/>
          <p:cNvSpPr/>
          <p:nvPr/>
        </p:nvSpPr>
        <p:spPr>
          <a:xfrm>
            <a:off x="1097280" y="3977640"/>
            <a:ext cx="9966960" cy="960120"/>
          </a:xfrm>
          <a:prstGeom prst="rect">
            <a:avLst/>
          </a:prstGeom>
          <a:noFill/>
          <a:ln/>
        </p:spPr>
        <p:txBody>
          <a:bodyPr wrap="square" lIns="0" tIns="0" rIns="0" bIns="0" rtlCol="0" anchor="ctr"/>
          <a:lstStyle/>
          <a:p>
            <a:pPr algn="ctr"/>
            <a:r>
              <a:rPr lang="en-US" sz="1300" dirty="0">
                <a:solidFill>
                  <a:srgbClr val="FFFFFF"/>
                </a:solidFill>
              </a:rPr>
              <a:t>Quiban. Jomar P.</a:t>
            </a:r>
          </a:p>
          <a:p>
            <a:pPr marL="0" indent="0" algn="ctr">
              <a:buNone/>
            </a:pPr>
            <a:r>
              <a:rPr lang="en-US" sz="1300" dirty="0">
                <a:solidFill>
                  <a:srgbClr val="FFFFFF"/>
                </a:solidFill>
              </a:rPr>
              <a:t>CST499: Capstone for Computer Software Technology</a:t>
            </a:r>
            <a:endParaRPr lang="en-US" sz="1300" dirty="0"/>
          </a:p>
          <a:p>
            <a:pPr marL="0" indent="0" algn="ctr">
              <a:buNone/>
            </a:pPr>
            <a:r>
              <a:rPr lang="en-US" sz="1300" dirty="0">
                <a:solidFill>
                  <a:srgbClr val="FFFFFF"/>
                </a:solidFill>
              </a:rPr>
              <a:t>Charmelia Butler</a:t>
            </a:r>
            <a:endParaRPr lang="en-US" sz="1300" dirty="0"/>
          </a:p>
          <a:p>
            <a:pPr marL="0" indent="0" algn="ctr">
              <a:buNone/>
            </a:pPr>
            <a:r>
              <a:rPr lang="en-US" sz="1300" dirty="0">
                <a:solidFill>
                  <a:srgbClr val="FFFFFF"/>
                </a:solidFill>
              </a:rPr>
              <a:t>September 07,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3720" y="502920"/>
            <a:ext cx="10789920" cy="438912"/>
          </a:xfrm>
          <a:prstGeom prst="rect">
            <a:avLst/>
          </a:prstGeom>
          <a:noFill/>
          <a:ln/>
        </p:spPr>
        <p:txBody>
          <a:bodyPr wrap="square" lIns="0" tIns="0" rIns="0" bIns="0" rtlCol="0" anchor="ctr"/>
          <a:lstStyle/>
          <a:p>
            <a:pPr marL="0" indent="0">
              <a:buNone/>
            </a:pPr>
            <a:r>
              <a:rPr lang="en-US" sz="2500" b="1" dirty="0">
                <a:solidFill>
                  <a:srgbClr val="153A5B"/>
                </a:solidFill>
                <a:latin typeface="Aptos Display" pitchFamily="34" charset="0"/>
                <a:ea typeface="Aptos Display" pitchFamily="34" charset="-122"/>
                <a:cs typeface="Aptos Display" pitchFamily="34" charset="-120"/>
              </a:rPr>
              <a:t>1. Project Overview</a:t>
            </a:r>
            <a:endParaRPr lang="en-US" sz="2500" dirty="0"/>
          </a:p>
        </p:txBody>
      </p:sp>
      <p:sp>
        <p:nvSpPr>
          <p:cNvPr id="3" name="Text 1"/>
          <p:cNvSpPr/>
          <p:nvPr/>
        </p:nvSpPr>
        <p:spPr>
          <a:xfrm>
            <a:off x="550672" y="938784"/>
            <a:ext cx="10698480" cy="256032"/>
          </a:xfrm>
          <a:prstGeom prst="rect">
            <a:avLst/>
          </a:prstGeom>
          <a:noFill/>
          <a:ln/>
        </p:spPr>
        <p:txBody>
          <a:bodyPr wrap="square" lIns="0" tIns="0" rIns="0" bIns="0" rtlCol="0" anchor="ctr"/>
          <a:lstStyle/>
          <a:p>
            <a:pPr marL="0" indent="0">
              <a:buNone/>
            </a:pPr>
            <a:r>
              <a:rPr lang="en-US" sz="1050" dirty="0">
                <a:solidFill>
                  <a:srgbClr val="667085"/>
                </a:solidFill>
              </a:rPr>
              <a:t>The final system connects the requirements, design, interface, database, and PHP implementation.</a:t>
            </a:r>
            <a:endParaRPr lang="en-US" sz="1050" dirty="0"/>
          </a:p>
        </p:txBody>
      </p:sp>
      <p:sp>
        <p:nvSpPr>
          <p:cNvPr id="4" name="Shape 2"/>
          <p:cNvSpPr/>
          <p:nvPr/>
        </p:nvSpPr>
        <p:spPr>
          <a:xfrm>
            <a:off x="548640" y="1325880"/>
            <a:ext cx="3474720" cy="4389120"/>
          </a:xfrm>
          <a:prstGeom prst="roundRect">
            <a:avLst>
              <a:gd name="adj" fmla="val 1842"/>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5" name="Shape 3"/>
          <p:cNvSpPr/>
          <p:nvPr/>
        </p:nvSpPr>
        <p:spPr>
          <a:xfrm>
            <a:off x="548640" y="1325880"/>
            <a:ext cx="82296" cy="4389120"/>
          </a:xfrm>
          <a:prstGeom prst="rect">
            <a:avLst/>
          </a:prstGeom>
          <a:solidFill>
            <a:srgbClr val="2C74B3"/>
          </a:solidFill>
          <a:ln w="12700">
            <a:solidFill>
              <a:srgbClr val="2C74B3"/>
            </a:solidFill>
            <a:prstDash val="solid"/>
          </a:ln>
        </p:spPr>
      </p:sp>
      <p:sp>
        <p:nvSpPr>
          <p:cNvPr id="6" name="Text 4"/>
          <p:cNvSpPr/>
          <p:nvPr/>
        </p:nvSpPr>
        <p:spPr>
          <a:xfrm>
            <a:off x="749808" y="1490472"/>
            <a:ext cx="3154680" cy="256032"/>
          </a:xfrm>
          <a:prstGeom prst="rect">
            <a:avLst/>
          </a:prstGeom>
          <a:noFill/>
          <a:ln/>
        </p:spPr>
        <p:txBody>
          <a:bodyPr wrap="square" lIns="0" tIns="0" rIns="0" bIns="0" rtlCol="0" anchor="ctr"/>
          <a:lstStyle/>
          <a:p>
            <a:pPr marL="0" indent="0">
              <a:buNone/>
            </a:pPr>
            <a:r>
              <a:rPr lang="en-US" sz="1500" b="1" dirty="0">
                <a:solidFill>
                  <a:srgbClr val="153A5B"/>
                </a:solidFill>
              </a:rPr>
              <a:t>Problem</a:t>
            </a:r>
            <a:endParaRPr lang="en-US" sz="1500" dirty="0"/>
          </a:p>
        </p:txBody>
      </p:sp>
      <p:sp>
        <p:nvSpPr>
          <p:cNvPr id="7" name="Text 5"/>
          <p:cNvSpPr/>
          <p:nvPr/>
        </p:nvSpPr>
        <p:spPr>
          <a:xfrm>
            <a:off x="749808" y="1828800"/>
            <a:ext cx="3154680" cy="3749040"/>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Students need a convenient way to create an account, view available online courses, register for classes, manage a schedule, and cancel enrollment.</a:t>
            </a:r>
            <a:endParaRPr lang="en-US" sz="1150" dirty="0"/>
          </a:p>
        </p:txBody>
      </p:sp>
      <p:sp>
        <p:nvSpPr>
          <p:cNvPr id="8" name="Shape 6"/>
          <p:cNvSpPr/>
          <p:nvPr/>
        </p:nvSpPr>
        <p:spPr>
          <a:xfrm>
            <a:off x="4343400" y="1325880"/>
            <a:ext cx="3474720" cy="4389120"/>
          </a:xfrm>
          <a:prstGeom prst="roundRect">
            <a:avLst>
              <a:gd name="adj" fmla="val 1842"/>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9" name="Shape 7"/>
          <p:cNvSpPr/>
          <p:nvPr/>
        </p:nvSpPr>
        <p:spPr>
          <a:xfrm>
            <a:off x="4343400" y="1325880"/>
            <a:ext cx="82296" cy="4389120"/>
          </a:xfrm>
          <a:prstGeom prst="rect">
            <a:avLst/>
          </a:prstGeom>
          <a:solidFill>
            <a:srgbClr val="4B8B62"/>
          </a:solidFill>
          <a:ln w="12700">
            <a:solidFill>
              <a:srgbClr val="4B8B62"/>
            </a:solidFill>
            <a:prstDash val="solid"/>
          </a:ln>
        </p:spPr>
      </p:sp>
      <p:sp>
        <p:nvSpPr>
          <p:cNvPr id="10" name="Text 8"/>
          <p:cNvSpPr/>
          <p:nvPr/>
        </p:nvSpPr>
        <p:spPr>
          <a:xfrm>
            <a:off x="4544568" y="1490472"/>
            <a:ext cx="3154680" cy="256032"/>
          </a:xfrm>
          <a:prstGeom prst="rect">
            <a:avLst/>
          </a:prstGeom>
          <a:noFill/>
          <a:ln/>
        </p:spPr>
        <p:txBody>
          <a:bodyPr wrap="square" lIns="0" tIns="0" rIns="0" bIns="0" rtlCol="0" anchor="ctr"/>
          <a:lstStyle/>
          <a:p>
            <a:pPr marL="0" indent="0">
              <a:buNone/>
            </a:pPr>
            <a:r>
              <a:rPr lang="en-US" sz="1500" b="1" dirty="0">
                <a:solidFill>
                  <a:srgbClr val="153A5B"/>
                </a:solidFill>
              </a:rPr>
              <a:t>Solution</a:t>
            </a:r>
            <a:endParaRPr lang="en-US" sz="1500" dirty="0"/>
          </a:p>
        </p:txBody>
      </p:sp>
      <p:sp>
        <p:nvSpPr>
          <p:cNvPr id="11" name="Text 9"/>
          <p:cNvSpPr/>
          <p:nvPr/>
        </p:nvSpPr>
        <p:spPr>
          <a:xfrm>
            <a:off x="4544568" y="1828800"/>
            <a:ext cx="3154680" cy="3749040"/>
          </a:xfrm>
          <a:prstGeom prst="rect">
            <a:avLst/>
          </a:prstGeom>
          <a:noFill/>
          <a:ln/>
        </p:spPr>
        <p:txBody>
          <a:bodyPr wrap="square" lIns="254" tIns="254" rIns="254" bIns="254" rtlCol="0" anchor="t">
            <a:normAutofit/>
          </a:bodyPr>
          <a:lstStyle/>
          <a:p>
            <a:r>
              <a:rPr lang="en-US" sz="1150" dirty="0">
                <a:solidFill>
                  <a:srgbClr val="475467"/>
                </a:solidFill>
              </a:rPr>
              <a:t>A web-based registration application using a PHP front end, MySQL database, authenticated student sessions, and enrollment management logic.</a:t>
            </a:r>
            <a:endParaRPr lang="en-US" sz="1150" dirty="0"/>
          </a:p>
        </p:txBody>
      </p:sp>
      <p:sp>
        <p:nvSpPr>
          <p:cNvPr id="12" name="Shape 10"/>
          <p:cNvSpPr/>
          <p:nvPr/>
        </p:nvSpPr>
        <p:spPr>
          <a:xfrm>
            <a:off x="8138160" y="1325880"/>
            <a:ext cx="3474720" cy="4389120"/>
          </a:xfrm>
          <a:prstGeom prst="roundRect">
            <a:avLst>
              <a:gd name="adj" fmla="val 1842"/>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13" name="Shape 11"/>
          <p:cNvSpPr/>
          <p:nvPr/>
        </p:nvSpPr>
        <p:spPr>
          <a:xfrm>
            <a:off x="8138160" y="1325880"/>
            <a:ext cx="82296" cy="4389120"/>
          </a:xfrm>
          <a:prstGeom prst="rect">
            <a:avLst/>
          </a:prstGeom>
          <a:solidFill>
            <a:srgbClr val="B36B3D"/>
          </a:solidFill>
          <a:ln w="12700">
            <a:solidFill>
              <a:srgbClr val="B36B3D"/>
            </a:solidFill>
            <a:prstDash val="solid"/>
          </a:ln>
        </p:spPr>
      </p:sp>
      <p:sp>
        <p:nvSpPr>
          <p:cNvPr id="14" name="Text 12"/>
          <p:cNvSpPr/>
          <p:nvPr/>
        </p:nvSpPr>
        <p:spPr>
          <a:xfrm>
            <a:off x="8339328" y="1490472"/>
            <a:ext cx="3154680" cy="256032"/>
          </a:xfrm>
          <a:prstGeom prst="rect">
            <a:avLst/>
          </a:prstGeom>
          <a:noFill/>
          <a:ln/>
        </p:spPr>
        <p:txBody>
          <a:bodyPr wrap="square" lIns="0" tIns="0" rIns="0" bIns="0" rtlCol="0" anchor="ctr"/>
          <a:lstStyle/>
          <a:p>
            <a:pPr marL="0" indent="0">
              <a:buNone/>
            </a:pPr>
            <a:r>
              <a:rPr lang="en-US" sz="1500" b="1" dirty="0">
                <a:solidFill>
                  <a:srgbClr val="153A5B"/>
                </a:solidFill>
              </a:rPr>
              <a:t>Project Flow</a:t>
            </a:r>
            <a:endParaRPr lang="en-US" sz="1500" dirty="0"/>
          </a:p>
        </p:txBody>
      </p:sp>
      <p:sp>
        <p:nvSpPr>
          <p:cNvPr id="15" name="Text 13"/>
          <p:cNvSpPr/>
          <p:nvPr/>
        </p:nvSpPr>
        <p:spPr>
          <a:xfrm>
            <a:off x="8339328" y="1828800"/>
            <a:ext cx="3154680" cy="3749040"/>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Week 1: Requirements → Week 2: UML design → Weeks 3–4: PHP/MySQL implementation → Final: Compiled deliverables and presentation.</a:t>
            </a:r>
            <a:endParaRPr lang="en-US" sz="1150" dirty="0"/>
          </a:p>
        </p:txBody>
      </p:sp>
      <p:sp>
        <p:nvSpPr>
          <p:cNvPr id="16" name="Shape 14"/>
          <p:cNvSpPr/>
          <p:nvPr/>
        </p:nvSpPr>
        <p:spPr>
          <a:xfrm>
            <a:off x="1005840" y="5925312"/>
            <a:ext cx="2468880" cy="384048"/>
          </a:xfrm>
          <a:prstGeom prst="roundRect">
            <a:avLst>
              <a:gd name="adj" fmla="val 14286"/>
            </a:avLst>
          </a:prstGeom>
          <a:solidFill>
            <a:srgbClr val="E7EEF5"/>
          </a:solidFill>
          <a:ln w="12700">
            <a:solidFill>
              <a:srgbClr val="B9C7D4"/>
            </a:solidFill>
            <a:prstDash val="solid"/>
          </a:ln>
        </p:spPr>
      </p:sp>
      <p:sp>
        <p:nvSpPr>
          <p:cNvPr id="17" name="Text 15"/>
          <p:cNvSpPr/>
          <p:nvPr/>
        </p:nvSpPr>
        <p:spPr>
          <a:xfrm>
            <a:off x="1042416" y="5989320"/>
            <a:ext cx="2395728" cy="164592"/>
          </a:xfrm>
          <a:prstGeom prst="rect">
            <a:avLst/>
          </a:prstGeom>
          <a:noFill/>
          <a:ln/>
        </p:spPr>
        <p:txBody>
          <a:bodyPr wrap="square" lIns="0" tIns="0" rIns="0" bIns="0" rtlCol="0" anchor="ctr"/>
          <a:lstStyle/>
          <a:p>
            <a:pPr marL="0" indent="0" algn="ctr">
              <a:buNone/>
            </a:pPr>
            <a:r>
              <a:rPr lang="en-US" sz="900" b="1" dirty="0">
                <a:solidFill>
                  <a:srgbClr val="153A5B"/>
                </a:solidFill>
              </a:rPr>
              <a:t>Requirements</a:t>
            </a:r>
            <a:endParaRPr lang="en-US" sz="900" dirty="0"/>
          </a:p>
        </p:txBody>
      </p:sp>
      <p:sp>
        <p:nvSpPr>
          <p:cNvPr id="18" name="Shape 16"/>
          <p:cNvSpPr/>
          <p:nvPr/>
        </p:nvSpPr>
        <p:spPr>
          <a:xfrm>
            <a:off x="3566160" y="5925312"/>
            <a:ext cx="2468880" cy="384048"/>
          </a:xfrm>
          <a:prstGeom prst="roundRect">
            <a:avLst>
              <a:gd name="adj" fmla="val 14286"/>
            </a:avLst>
          </a:prstGeom>
          <a:solidFill>
            <a:srgbClr val="E7EEF5"/>
          </a:solidFill>
          <a:ln w="12700">
            <a:solidFill>
              <a:srgbClr val="B9C7D4"/>
            </a:solidFill>
            <a:prstDash val="solid"/>
          </a:ln>
        </p:spPr>
      </p:sp>
      <p:sp>
        <p:nvSpPr>
          <p:cNvPr id="19" name="Text 17"/>
          <p:cNvSpPr/>
          <p:nvPr/>
        </p:nvSpPr>
        <p:spPr>
          <a:xfrm>
            <a:off x="3602736" y="5989320"/>
            <a:ext cx="2395728" cy="164592"/>
          </a:xfrm>
          <a:prstGeom prst="rect">
            <a:avLst/>
          </a:prstGeom>
          <a:noFill/>
          <a:ln/>
        </p:spPr>
        <p:txBody>
          <a:bodyPr wrap="square" lIns="0" tIns="0" rIns="0" bIns="0" rtlCol="0" anchor="ctr"/>
          <a:lstStyle/>
          <a:p>
            <a:pPr marL="0" indent="0" algn="ctr">
              <a:buNone/>
            </a:pPr>
            <a:r>
              <a:rPr lang="en-US" sz="900" b="1" dirty="0">
                <a:solidFill>
                  <a:srgbClr val="153A5B"/>
                </a:solidFill>
              </a:rPr>
              <a:t>Design</a:t>
            </a:r>
            <a:endParaRPr lang="en-US" sz="900" dirty="0"/>
          </a:p>
        </p:txBody>
      </p:sp>
      <p:sp>
        <p:nvSpPr>
          <p:cNvPr id="20" name="Shape 18"/>
          <p:cNvSpPr/>
          <p:nvPr/>
        </p:nvSpPr>
        <p:spPr>
          <a:xfrm>
            <a:off x="6126480" y="5925312"/>
            <a:ext cx="2468880" cy="384048"/>
          </a:xfrm>
          <a:prstGeom prst="roundRect">
            <a:avLst>
              <a:gd name="adj" fmla="val 14286"/>
            </a:avLst>
          </a:prstGeom>
          <a:solidFill>
            <a:srgbClr val="E7EEF5"/>
          </a:solidFill>
          <a:ln w="12700">
            <a:solidFill>
              <a:srgbClr val="B9C7D4"/>
            </a:solidFill>
            <a:prstDash val="solid"/>
          </a:ln>
        </p:spPr>
      </p:sp>
      <p:sp>
        <p:nvSpPr>
          <p:cNvPr id="21" name="Text 19"/>
          <p:cNvSpPr/>
          <p:nvPr/>
        </p:nvSpPr>
        <p:spPr>
          <a:xfrm>
            <a:off x="6163056" y="5989320"/>
            <a:ext cx="2395728" cy="164592"/>
          </a:xfrm>
          <a:prstGeom prst="rect">
            <a:avLst/>
          </a:prstGeom>
          <a:noFill/>
          <a:ln/>
        </p:spPr>
        <p:txBody>
          <a:bodyPr wrap="square" lIns="0" tIns="0" rIns="0" bIns="0" rtlCol="0" anchor="ctr"/>
          <a:lstStyle/>
          <a:p>
            <a:pPr marL="0" indent="0" algn="ctr">
              <a:buNone/>
            </a:pPr>
            <a:r>
              <a:rPr lang="en-US" sz="900" b="1" dirty="0">
                <a:solidFill>
                  <a:srgbClr val="153A5B"/>
                </a:solidFill>
              </a:rPr>
              <a:t>Implementation</a:t>
            </a:r>
            <a:endParaRPr lang="en-US" sz="900" dirty="0"/>
          </a:p>
        </p:txBody>
      </p:sp>
      <p:sp>
        <p:nvSpPr>
          <p:cNvPr id="22" name="Shape 20"/>
          <p:cNvSpPr/>
          <p:nvPr/>
        </p:nvSpPr>
        <p:spPr>
          <a:xfrm>
            <a:off x="8686800" y="5925312"/>
            <a:ext cx="2468880" cy="384048"/>
          </a:xfrm>
          <a:prstGeom prst="roundRect">
            <a:avLst>
              <a:gd name="adj" fmla="val 14286"/>
            </a:avLst>
          </a:prstGeom>
          <a:solidFill>
            <a:srgbClr val="E7EEF5"/>
          </a:solidFill>
          <a:ln w="12700">
            <a:solidFill>
              <a:srgbClr val="B9C7D4"/>
            </a:solidFill>
            <a:prstDash val="solid"/>
          </a:ln>
        </p:spPr>
      </p:sp>
      <p:sp>
        <p:nvSpPr>
          <p:cNvPr id="23" name="Text 21"/>
          <p:cNvSpPr/>
          <p:nvPr/>
        </p:nvSpPr>
        <p:spPr>
          <a:xfrm>
            <a:off x="8723376" y="5989320"/>
            <a:ext cx="2395728" cy="164592"/>
          </a:xfrm>
          <a:prstGeom prst="rect">
            <a:avLst/>
          </a:prstGeom>
          <a:noFill/>
          <a:ln/>
        </p:spPr>
        <p:txBody>
          <a:bodyPr wrap="square" lIns="0" tIns="0" rIns="0" bIns="0" rtlCol="0" anchor="ctr"/>
          <a:lstStyle/>
          <a:p>
            <a:pPr marL="0" indent="0" algn="ctr">
              <a:buNone/>
            </a:pPr>
            <a:r>
              <a:rPr lang="en-US" sz="900" b="1" dirty="0">
                <a:solidFill>
                  <a:srgbClr val="153A5B"/>
                </a:solidFill>
              </a:rPr>
              <a:t>Verification</a:t>
            </a:r>
            <a:endParaRPr lang="en-US" sz="900" dirty="0"/>
          </a:p>
        </p:txBody>
      </p:sp>
      <p:sp>
        <p:nvSpPr>
          <p:cNvPr id="25" name="Slide Number Placeholder 0"/>
          <p:cNvSpPr>
            <a:spLocks noGrp="1"/>
          </p:cNvSpPr>
          <p:nvPr>
            <p:ph type="sldNum" sz="quarter" idx="4294967295"/>
          </p:nvPr>
        </p:nvSpPr>
        <p:spPr>
          <a:xfrm>
            <a:off x="1184148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2</a:t>
            </a:fld>
            <a:endParaRPr lang="en-US"/>
          </a:p>
        </p:txBody>
      </p:sp>
    </p:spTree>
    <p:extLst>
      <p:ext uri="{BB962C8B-B14F-4D97-AF65-F5344CB8AC3E}">
        <p14:creationId xmlns:p14="http://schemas.microsoft.com/office/powerpoint/2010/main" val="152213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3400" y="482600"/>
            <a:ext cx="10789920" cy="438912"/>
          </a:xfrm>
          <a:prstGeom prst="rect">
            <a:avLst/>
          </a:prstGeom>
          <a:noFill/>
          <a:ln/>
        </p:spPr>
        <p:txBody>
          <a:bodyPr wrap="square" lIns="0" tIns="0" rIns="0" bIns="0" rtlCol="0" anchor="ctr"/>
          <a:lstStyle/>
          <a:p>
            <a:pPr marL="0" indent="0">
              <a:buNone/>
            </a:pPr>
            <a:r>
              <a:rPr lang="en-US" sz="2500" b="1" dirty="0">
                <a:solidFill>
                  <a:srgbClr val="153A5B"/>
                </a:solidFill>
                <a:latin typeface="Aptos Display" pitchFamily="34" charset="0"/>
                <a:ea typeface="Aptos Display" pitchFamily="34" charset="-122"/>
                <a:cs typeface="Aptos Display" pitchFamily="34" charset="-120"/>
              </a:rPr>
              <a:t>2. SRS Summary</a:t>
            </a:r>
            <a:endParaRPr lang="en-US" sz="2500" dirty="0"/>
          </a:p>
        </p:txBody>
      </p:sp>
      <p:sp>
        <p:nvSpPr>
          <p:cNvPr id="3" name="Text 1"/>
          <p:cNvSpPr/>
          <p:nvPr/>
        </p:nvSpPr>
        <p:spPr>
          <a:xfrm>
            <a:off x="530352" y="918464"/>
            <a:ext cx="10698480" cy="256032"/>
          </a:xfrm>
          <a:prstGeom prst="rect">
            <a:avLst/>
          </a:prstGeom>
          <a:noFill/>
          <a:ln/>
        </p:spPr>
        <p:txBody>
          <a:bodyPr wrap="square" lIns="0" tIns="0" rIns="0" bIns="0" rtlCol="0" anchor="ctr"/>
          <a:lstStyle/>
          <a:p>
            <a:pPr marL="0" indent="0">
              <a:buNone/>
            </a:pPr>
            <a:r>
              <a:rPr lang="en-US" sz="1050" dirty="0">
                <a:solidFill>
                  <a:srgbClr val="667085"/>
                </a:solidFill>
              </a:rPr>
              <a:t>Key requirements carried from the Software Requirements Specification.</a:t>
            </a:r>
            <a:endParaRPr lang="en-US" sz="1050" dirty="0"/>
          </a:p>
        </p:txBody>
      </p:sp>
      <p:sp>
        <p:nvSpPr>
          <p:cNvPr id="4" name="Shape 2"/>
          <p:cNvSpPr/>
          <p:nvPr/>
        </p:nvSpPr>
        <p:spPr>
          <a:xfrm>
            <a:off x="594360" y="1234440"/>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5" name="Shape 3"/>
          <p:cNvSpPr/>
          <p:nvPr/>
        </p:nvSpPr>
        <p:spPr>
          <a:xfrm>
            <a:off x="594360" y="1234440"/>
            <a:ext cx="82296" cy="1298448"/>
          </a:xfrm>
          <a:prstGeom prst="rect">
            <a:avLst/>
          </a:prstGeom>
          <a:solidFill>
            <a:srgbClr val="2C74B3"/>
          </a:solidFill>
          <a:ln w="12700">
            <a:solidFill>
              <a:srgbClr val="2C74B3"/>
            </a:solidFill>
            <a:prstDash val="solid"/>
          </a:ln>
        </p:spPr>
      </p:sp>
      <p:sp>
        <p:nvSpPr>
          <p:cNvPr id="6" name="Text 4"/>
          <p:cNvSpPr/>
          <p:nvPr/>
        </p:nvSpPr>
        <p:spPr>
          <a:xfrm>
            <a:off x="795528" y="1399032"/>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Account &amp; authentication</a:t>
            </a:r>
            <a:endParaRPr lang="en-US" sz="1500" dirty="0"/>
          </a:p>
        </p:txBody>
      </p:sp>
      <p:sp>
        <p:nvSpPr>
          <p:cNvPr id="7" name="Text 5"/>
          <p:cNvSpPr/>
          <p:nvPr/>
        </p:nvSpPr>
        <p:spPr>
          <a:xfrm>
            <a:off x="795528" y="1737360"/>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Create account with a unique User ID and password; securely authenticate returning users.</a:t>
            </a:r>
            <a:endParaRPr lang="en-US" sz="1150" dirty="0"/>
          </a:p>
        </p:txBody>
      </p:sp>
      <p:sp>
        <p:nvSpPr>
          <p:cNvPr id="8" name="Shape 6"/>
          <p:cNvSpPr/>
          <p:nvPr/>
        </p:nvSpPr>
        <p:spPr>
          <a:xfrm>
            <a:off x="6309360" y="1234440"/>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9" name="Shape 7"/>
          <p:cNvSpPr/>
          <p:nvPr/>
        </p:nvSpPr>
        <p:spPr>
          <a:xfrm>
            <a:off x="6309360" y="1234440"/>
            <a:ext cx="82296" cy="1298448"/>
          </a:xfrm>
          <a:prstGeom prst="rect">
            <a:avLst/>
          </a:prstGeom>
          <a:solidFill>
            <a:srgbClr val="4B8B62"/>
          </a:solidFill>
          <a:ln w="12700">
            <a:solidFill>
              <a:srgbClr val="4B8B62"/>
            </a:solidFill>
            <a:prstDash val="solid"/>
          </a:ln>
        </p:spPr>
      </p:sp>
      <p:sp>
        <p:nvSpPr>
          <p:cNvPr id="10" name="Text 8"/>
          <p:cNvSpPr/>
          <p:nvPr/>
        </p:nvSpPr>
        <p:spPr>
          <a:xfrm>
            <a:off x="6510528" y="1399032"/>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Student profile</a:t>
            </a:r>
            <a:endParaRPr lang="en-US" sz="1500" dirty="0"/>
          </a:p>
        </p:txBody>
      </p:sp>
      <p:sp>
        <p:nvSpPr>
          <p:cNvPr id="11" name="Text 9"/>
          <p:cNvSpPr/>
          <p:nvPr/>
        </p:nvSpPr>
        <p:spPr>
          <a:xfrm>
            <a:off x="6510528" y="1737360"/>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Capture full name, phone number, and email address.</a:t>
            </a:r>
            <a:endParaRPr lang="en-US" sz="1150" dirty="0"/>
          </a:p>
        </p:txBody>
      </p:sp>
      <p:sp>
        <p:nvSpPr>
          <p:cNvPr id="12" name="Shape 10"/>
          <p:cNvSpPr/>
          <p:nvPr/>
        </p:nvSpPr>
        <p:spPr>
          <a:xfrm>
            <a:off x="594360" y="2807208"/>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13" name="Shape 11"/>
          <p:cNvSpPr/>
          <p:nvPr/>
        </p:nvSpPr>
        <p:spPr>
          <a:xfrm>
            <a:off x="594360" y="2807208"/>
            <a:ext cx="82296" cy="1298448"/>
          </a:xfrm>
          <a:prstGeom prst="rect">
            <a:avLst/>
          </a:prstGeom>
          <a:solidFill>
            <a:srgbClr val="2C74B3"/>
          </a:solidFill>
          <a:ln w="12700">
            <a:solidFill>
              <a:srgbClr val="2C74B3"/>
            </a:solidFill>
            <a:prstDash val="solid"/>
          </a:ln>
        </p:spPr>
      </p:sp>
      <p:sp>
        <p:nvSpPr>
          <p:cNvPr id="14" name="Text 12"/>
          <p:cNvSpPr/>
          <p:nvPr/>
        </p:nvSpPr>
        <p:spPr>
          <a:xfrm>
            <a:off x="795528" y="2971800"/>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Course catalog</a:t>
            </a:r>
            <a:endParaRPr lang="en-US" sz="1500" dirty="0"/>
          </a:p>
        </p:txBody>
      </p:sp>
      <p:sp>
        <p:nvSpPr>
          <p:cNvPr id="15" name="Text 13"/>
          <p:cNvSpPr/>
          <p:nvPr/>
        </p:nvSpPr>
        <p:spPr>
          <a:xfrm>
            <a:off x="795528" y="3310128"/>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List courses with enrollment capacity.</a:t>
            </a:r>
            <a:endParaRPr lang="en-US" sz="1150" dirty="0"/>
          </a:p>
        </p:txBody>
      </p:sp>
      <p:sp>
        <p:nvSpPr>
          <p:cNvPr id="16" name="Shape 14"/>
          <p:cNvSpPr/>
          <p:nvPr/>
        </p:nvSpPr>
        <p:spPr>
          <a:xfrm>
            <a:off x="6309360" y="2807208"/>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17" name="Shape 15"/>
          <p:cNvSpPr/>
          <p:nvPr/>
        </p:nvSpPr>
        <p:spPr>
          <a:xfrm>
            <a:off x="6309360" y="2807208"/>
            <a:ext cx="82296" cy="1298448"/>
          </a:xfrm>
          <a:prstGeom prst="rect">
            <a:avLst/>
          </a:prstGeom>
          <a:solidFill>
            <a:srgbClr val="4B8B62"/>
          </a:solidFill>
          <a:ln w="12700">
            <a:solidFill>
              <a:srgbClr val="4B8B62"/>
            </a:solidFill>
            <a:prstDash val="solid"/>
          </a:ln>
        </p:spPr>
      </p:sp>
      <p:sp>
        <p:nvSpPr>
          <p:cNvPr id="18" name="Text 16"/>
          <p:cNvSpPr/>
          <p:nvPr/>
        </p:nvSpPr>
        <p:spPr>
          <a:xfrm>
            <a:off x="6510528" y="2971800"/>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Registration &amp; waitlist</a:t>
            </a:r>
            <a:endParaRPr lang="en-US" sz="1500" dirty="0"/>
          </a:p>
        </p:txBody>
      </p:sp>
      <p:sp>
        <p:nvSpPr>
          <p:cNvPr id="19" name="Text 17"/>
          <p:cNvSpPr/>
          <p:nvPr/>
        </p:nvSpPr>
        <p:spPr>
          <a:xfrm>
            <a:off x="6510528" y="3310128"/>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Enroll when seats are available; use a first-come, first-served waitlist when full.</a:t>
            </a:r>
            <a:endParaRPr lang="en-US" sz="1150" dirty="0"/>
          </a:p>
        </p:txBody>
      </p:sp>
      <p:sp>
        <p:nvSpPr>
          <p:cNvPr id="20" name="Shape 18"/>
          <p:cNvSpPr/>
          <p:nvPr/>
        </p:nvSpPr>
        <p:spPr>
          <a:xfrm>
            <a:off x="594360" y="4379976"/>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21" name="Shape 19"/>
          <p:cNvSpPr/>
          <p:nvPr/>
        </p:nvSpPr>
        <p:spPr>
          <a:xfrm>
            <a:off x="594360" y="4379976"/>
            <a:ext cx="82296" cy="1298448"/>
          </a:xfrm>
          <a:prstGeom prst="rect">
            <a:avLst/>
          </a:prstGeom>
          <a:solidFill>
            <a:srgbClr val="2C74B3"/>
          </a:solidFill>
          <a:ln w="12700">
            <a:solidFill>
              <a:srgbClr val="2C74B3"/>
            </a:solidFill>
            <a:prstDash val="solid"/>
          </a:ln>
        </p:spPr>
      </p:sp>
      <p:sp>
        <p:nvSpPr>
          <p:cNvPr id="22" name="Text 20"/>
          <p:cNvSpPr/>
          <p:nvPr/>
        </p:nvSpPr>
        <p:spPr>
          <a:xfrm>
            <a:off x="795528" y="4544568"/>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Cancellation</a:t>
            </a:r>
            <a:endParaRPr lang="en-US" sz="1500" dirty="0"/>
          </a:p>
        </p:txBody>
      </p:sp>
      <p:sp>
        <p:nvSpPr>
          <p:cNvPr id="23" name="Text 21"/>
          <p:cNvSpPr/>
          <p:nvPr/>
        </p:nvSpPr>
        <p:spPr>
          <a:xfrm>
            <a:off x="795528" y="4882896"/>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Allow students to cancel enrollment and notify the first waitlisted student when a seat opens.</a:t>
            </a:r>
            <a:endParaRPr lang="en-US" sz="1150" dirty="0"/>
          </a:p>
        </p:txBody>
      </p:sp>
      <p:sp>
        <p:nvSpPr>
          <p:cNvPr id="24" name="Shape 22"/>
          <p:cNvSpPr/>
          <p:nvPr/>
        </p:nvSpPr>
        <p:spPr>
          <a:xfrm>
            <a:off x="6309360" y="4379976"/>
            <a:ext cx="5440680" cy="1298448"/>
          </a:xfrm>
          <a:prstGeom prst="roundRect">
            <a:avLst>
              <a:gd name="adj" fmla="val 4930"/>
            </a:avLst>
          </a:prstGeom>
          <a:solidFill>
            <a:srgbClr val="FFFFFF"/>
          </a:solidFill>
          <a:ln w="12700">
            <a:solidFill>
              <a:srgbClr val="D5DDE5"/>
            </a:solidFill>
            <a:prstDash val="solid"/>
          </a:ln>
          <a:effectLst>
            <a:outerShdw blurRad="12700" dist="50800" dir="2700000" algn="bl" rotWithShape="0">
              <a:srgbClr val="B7C2CC">
                <a:alpha val="16000"/>
              </a:srgbClr>
            </a:outerShdw>
          </a:effectLst>
        </p:spPr>
      </p:sp>
      <p:sp>
        <p:nvSpPr>
          <p:cNvPr id="25" name="Shape 23"/>
          <p:cNvSpPr/>
          <p:nvPr/>
        </p:nvSpPr>
        <p:spPr>
          <a:xfrm>
            <a:off x="6309360" y="4379976"/>
            <a:ext cx="82296" cy="1298448"/>
          </a:xfrm>
          <a:prstGeom prst="rect">
            <a:avLst/>
          </a:prstGeom>
          <a:solidFill>
            <a:srgbClr val="4B8B62"/>
          </a:solidFill>
          <a:ln w="12700">
            <a:solidFill>
              <a:srgbClr val="4B8B62"/>
            </a:solidFill>
            <a:prstDash val="solid"/>
          </a:ln>
        </p:spPr>
      </p:sp>
      <p:sp>
        <p:nvSpPr>
          <p:cNvPr id="26" name="Text 24"/>
          <p:cNvSpPr/>
          <p:nvPr/>
        </p:nvSpPr>
        <p:spPr>
          <a:xfrm>
            <a:off x="6510528" y="4544568"/>
            <a:ext cx="5120640" cy="256032"/>
          </a:xfrm>
          <a:prstGeom prst="rect">
            <a:avLst/>
          </a:prstGeom>
          <a:noFill/>
          <a:ln/>
        </p:spPr>
        <p:txBody>
          <a:bodyPr wrap="square" lIns="0" tIns="0" rIns="0" bIns="0" rtlCol="0" anchor="ctr"/>
          <a:lstStyle/>
          <a:p>
            <a:pPr marL="0" indent="0">
              <a:buNone/>
            </a:pPr>
            <a:r>
              <a:rPr lang="en-US" sz="1500" b="1" dirty="0">
                <a:solidFill>
                  <a:srgbClr val="153A5B"/>
                </a:solidFill>
              </a:rPr>
              <a:t>Quality &amp; security</a:t>
            </a:r>
            <a:endParaRPr lang="en-US" sz="1500" dirty="0"/>
          </a:p>
        </p:txBody>
      </p:sp>
      <p:sp>
        <p:nvSpPr>
          <p:cNvPr id="27" name="Text 25"/>
          <p:cNvSpPr/>
          <p:nvPr/>
        </p:nvSpPr>
        <p:spPr>
          <a:xfrm>
            <a:off x="6510528" y="4882896"/>
            <a:ext cx="5120640" cy="658368"/>
          </a:xfrm>
          <a:prstGeom prst="rect">
            <a:avLst/>
          </a:prstGeom>
          <a:noFill/>
          <a:ln/>
        </p:spPr>
        <p:txBody>
          <a:bodyPr wrap="square" lIns="254" tIns="254" rIns="254" bIns="254" rtlCol="0" anchor="t">
            <a:normAutofit/>
          </a:bodyPr>
          <a:lstStyle/>
          <a:p>
            <a:pPr marL="0" indent="0">
              <a:buNone/>
            </a:pPr>
            <a:r>
              <a:rPr lang="en-US" sz="1150" dirty="0">
                <a:solidFill>
                  <a:srgbClr val="475467"/>
                </a:solidFill>
              </a:rPr>
              <a:t>Use authentication, protected personal information, HTTPS, reliability, usability, and maintainability requirements.</a:t>
            </a:r>
            <a:endParaRPr lang="en-US" sz="1150" dirty="0"/>
          </a:p>
        </p:txBody>
      </p:sp>
      <p:sp>
        <p:nvSpPr>
          <p:cNvPr id="29" name="Slide Number Placeholder 0"/>
          <p:cNvSpPr>
            <a:spLocks noGrp="1"/>
          </p:cNvSpPr>
          <p:nvPr>
            <p:ph type="sldNum" sz="quarter" idx="4294967295"/>
          </p:nvPr>
        </p:nvSpPr>
        <p:spPr>
          <a:xfrm>
            <a:off x="1184148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3</a:t>
            </a:fld>
            <a:endParaRPr lang="en-US"/>
          </a:p>
        </p:txBody>
      </p:sp>
    </p:spTree>
    <p:extLst>
      <p:ext uri="{BB962C8B-B14F-4D97-AF65-F5344CB8AC3E}">
        <p14:creationId xmlns:p14="http://schemas.microsoft.com/office/powerpoint/2010/main" val="65368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2600" y="482600"/>
            <a:ext cx="10789920" cy="438912"/>
          </a:xfrm>
          <a:prstGeom prst="rect">
            <a:avLst/>
          </a:prstGeom>
          <a:noFill/>
          <a:ln/>
        </p:spPr>
        <p:txBody>
          <a:bodyPr wrap="square" lIns="0" tIns="0" rIns="0" bIns="0" rtlCol="0" anchor="ctr"/>
          <a:lstStyle/>
          <a:p>
            <a:pPr marL="0" indent="0">
              <a:buNone/>
            </a:pPr>
            <a:r>
              <a:rPr lang="en-US" sz="2500" b="1" dirty="0">
                <a:solidFill>
                  <a:srgbClr val="153A5B"/>
                </a:solidFill>
                <a:latin typeface="Aptos Display" pitchFamily="34" charset="0"/>
                <a:ea typeface="Aptos Display" pitchFamily="34" charset="-122"/>
                <a:cs typeface="Aptos Display" pitchFamily="34" charset="-120"/>
              </a:rPr>
              <a:t>3. UML Design Model</a:t>
            </a:r>
            <a:endParaRPr lang="en-US" sz="2500" dirty="0"/>
          </a:p>
        </p:txBody>
      </p:sp>
      <p:sp>
        <p:nvSpPr>
          <p:cNvPr id="3" name="Text 1"/>
          <p:cNvSpPr/>
          <p:nvPr/>
        </p:nvSpPr>
        <p:spPr>
          <a:xfrm>
            <a:off x="530352" y="918464"/>
            <a:ext cx="10698480" cy="256032"/>
          </a:xfrm>
          <a:prstGeom prst="rect">
            <a:avLst/>
          </a:prstGeom>
          <a:noFill/>
          <a:ln/>
        </p:spPr>
        <p:txBody>
          <a:bodyPr wrap="square" lIns="0" tIns="0" rIns="0" bIns="0" rtlCol="0" anchor="ctr"/>
          <a:lstStyle/>
          <a:p>
            <a:pPr marL="0" indent="0">
              <a:buNone/>
            </a:pPr>
            <a:r>
              <a:rPr lang="en-US" sz="1050" dirty="0">
                <a:solidFill>
                  <a:srgbClr val="667085"/>
                </a:solidFill>
              </a:rPr>
              <a:t>The Week 2 models translate the SRS into static and dynamic views of the system.</a:t>
            </a:r>
            <a:endParaRPr lang="en-US" sz="1050" dirty="0"/>
          </a:p>
        </p:txBody>
      </p:sp>
      <p:sp>
        <p:nvSpPr>
          <p:cNvPr id="4" name="Shape 2"/>
          <p:cNvSpPr/>
          <p:nvPr/>
        </p:nvSpPr>
        <p:spPr>
          <a:xfrm>
            <a:off x="502920" y="1234440"/>
            <a:ext cx="3566160" cy="2121408"/>
          </a:xfrm>
          <a:prstGeom prst="roundRect">
            <a:avLst>
              <a:gd name="adj" fmla="val 2155"/>
            </a:avLst>
          </a:prstGeom>
          <a:solidFill>
            <a:srgbClr val="FFFFFF"/>
          </a:solidFill>
          <a:ln w="12700">
            <a:solidFill>
              <a:srgbClr val="D5DDE5"/>
            </a:solidFill>
            <a:prstDash val="solid"/>
          </a:ln>
        </p:spPr>
      </p:sp>
      <p:pic>
        <p:nvPicPr>
          <p:cNvPr id="5" name="Image 0" descr="/mnt/data/uml_assets/uml_1.jpg"/>
          <p:cNvPicPr>
            <a:picLocks noChangeAspect="1"/>
          </p:cNvPicPr>
          <p:nvPr/>
        </p:nvPicPr>
        <p:blipFill>
          <a:blip r:embed="rId3"/>
          <a:stretch>
            <a:fillRect/>
          </a:stretch>
        </p:blipFill>
        <p:spPr>
          <a:xfrm>
            <a:off x="612648" y="1399032"/>
            <a:ext cx="3346704" cy="1664208"/>
          </a:xfrm>
          <a:prstGeom prst="rect">
            <a:avLst/>
          </a:prstGeom>
        </p:spPr>
      </p:pic>
      <p:sp>
        <p:nvSpPr>
          <p:cNvPr id="6" name="Text 3"/>
          <p:cNvSpPr/>
          <p:nvPr/>
        </p:nvSpPr>
        <p:spPr>
          <a:xfrm>
            <a:off x="640080" y="3090672"/>
            <a:ext cx="3291840" cy="182880"/>
          </a:xfrm>
          <a:prstGeom prst="rect">
            <a:avLst/>
          </a:prstGeom>
          <a:noFill/>
          <a:ln/>
        </p:spPr>
        <p:txBody>
          <a:bodyPr wrap="square" lIns="0" tIns="0" rIns="0" bIns="0" rtlCol="0" anchor="ctr"/>
          <a:lstStyle/>
          <a:p>
            <a:pPr marL="0" indent="0" algn="ctr">
              <a:buNone/>
            </a:pPr>
            <a:r>
              <a:rPr lang="en-US" sz="1000" b="1" dirty="0">
                <a:solidFill>
                  <a:srgbClr val="153A5B"/>
                </a:solidFill>
              </a:rPr>
              <a:t>Use Case</a:t>
            </a:r>
            <a:endParaRPr lang="en-US" sz="1000" dirty="0"/>
          </a:p>
        </p:txBody>
      </p:sp>
      <p:sp>
        <p:nvSpPr>
          <p:cNvPr id="7" name="Shape 4"/>
          <p:cNvSpPr/>
          <p:nvPr/>
        </p:nvSpPr>
        <p:spPr>
          <a:xfrm>
            <a:off x="4389120" y="1234440"/>
            <a:ext cx="3566160" cy="2121408"/>
          </a:xfrm>
          <a:prstGeom prst="roundRect">
            <a:avLst>
              <a:gd name="adj" fmla="val 2155"/>
            </a:avLst>
          </a:prstGeom>
          <a:solidFill>
            <a:srgbClr val="FFFFFF"/>
          </a:solidFill>
          <a:ln w="12700">
            <a:solidFill>
              <a:srgbClr val="D5DDE5"/>
            </a:solidFill>
            <a:prstDash val="solid"/>
          </a:ln>
        </p:spPr>
      </p:sp>
      <p:pic>
        <p:nvPicPr>
          <p:cNvPr id="8" name="Image 1" descr="/mnt/data/uml_assets/uml_2.jpg"/>
          <p:cNvPicPr>
            <a:picLocks noChangeAspect="1"/>
          </p:cNvPicPr>
          <p:nvPr/>
        </p:nvPicPr>
        <p:blipFill>
          <a:blip r:embed="rId4"/>
          <a:stretch>
            <a:fillRect/>
          </a:stretch>
        </p:blipFill>
        <p:spPr>
          <a:xfrm>
            <a:off x="4498848" y="1399032"/>
            <a:ext cx="3346704" cy="1664208"/>
          </a:xfrm>
          <a:prstGeom prst="rect">
            <a:avLst/>
          </a:prstGeom>
        </p:spPr>
      </p:pic>
      <p:sp>
        <p:nvSpPr>
          <p:cNvPr id="9" name="Text 5"/>
          <p:cNvSpPr/>
          <p:nvPr/>
        </p:nvSpPr>
        <p:spPr>
          <a:xfrm>
            <a:off x="4526280" y="3090672"/>
            <a:ext cx="3291840" cy="182880"/>
          </a:xfrm>
          <a:prstGeom prst="rect">
            <a:avLst/>
          </a:prstGeom>
          <a:noFill/>
          <a:ln/>
        </p:spPr>
        <p:txBody>
          <a:bodyPr wrap="square" lIns="0" tIns="0" rIns="0" bIns="0" rtlCol="0" anchor="ctr"/>
          <a:lstStyle/>
          <a:p>
            <a:pPr marL="0" indent="0" algn="ctr">
              <a:buNone/>
            </a:pPr>
            <a:r>
              <a:rPr lang="en-US" sz="1000" b="1" dirty="0">
                <a:solidFill>
                  <a:srgbClr val="153A5B"/>
                </a:solidFill>
              </a:rPr>
              <a:t>Class</a:t>
            </a:r>
            <a:endParaRPr lang="en-US" sz="1000" dirty="0"/>
          </a:p>
        </p:txBody>
      </p:sp>
      <p:sp>
        <p:nvSpPr>
          <p:cNvPr id="10" name="Shape 6"/>
          <p:cNvSpPr/>
          <p:nvPr/>
        </p:nvSpPr>
        <p:spPr>
          <a:xfrm>
            <a:off x="8275320" y="1234440"/>
            <a:ext cx="3566160" cy="2121408"/>
          </a:xfrm>
          <a:prstGeom prst="roundRect">
            <a:avLst>
              <a:gd name="adj" fmla="val 2155"/>
            </a:avLst>
          </a:prstGeom>
          <a:solidFill>
            <a:srgbClr val="FFFFFF"/>
          </a:solidFill>
          <a:ln w="12700">
            <a:solidFill>
              <a:srgbClr val="D5DDE5"/>
            </a:solidFill>
            <a:prstDash val="solid"/>
          </a:ln>
        </p:spPr>
      </p:sp>
      <p:pic>
        <p:nvPicPr>
          <p:cNvPr id="11" name="Image 2" descr="/mnt/data/uml_assets/uml_3.jpg"/>
          <p:cNvPicPr>
            <a:picLocks noChangeAspect="1"/>
          </p:cNvPicPr>
          <p:nvPr/>
        </p:nvPicPr>
        <p:blipFill>
          <a:blip r:embed="rId5"/>
          <a:stretch>
            <a:fillRect/>
          </a:stretch>
        </p:blipFill>
        <p:spPr>
          <a:xfrm>
            <a:off x="8385048" y="1399032"/>
            <a:ext cx="3346704" cy="1664208"/>
          </a:xfrm>
          <a:prstGeom prst="rect">
            <a:avLst/>
          </a:prstGeom>
        </p:spPr>
      </p:pic>
      <p:sp>
        <p:nvSpPr>
          <p:cNvPr id="12" name="Text 7"/>
          <p:cNvSpPr/>
          <p:nvPr/>
        </p:nvSpPr>
        <p:spPr>
          <a:xfrm>
            <a:off x="8412480" y="3090672"/>
            <a:ext cx="3291840" cy="182880"/>
          </a:xfrm>
          <a:prstGeom prst="rect">
            <a:avLst/>
          </a:prstGeom>
          <a:noFill/>
          <a:ln/>
        </p:spPr>
        <p:txBody>
          <a:bodyPr wrap="square" lIns="0" tIns="0" rIns="0" bIns="0" rtlCol="0" anchor="ctr"/>
          <a:lstStyle/>
          <a:p>
            <a:pPr marL="0" indent="0" algn="ctr">
              <a:buNone/>
            </a:pPr>
            <a:r>
              <a:rPr lang="en-US" sz="1000" b="1" dirty="0">
                <a:solidFill>
                  <a:srgbClr val="153A5B"/>
                </a:solidFill>
              </a:rPr>
              <a:t>Activity</a:t>
            </a:r>
            <a:endParaRPr lang="en-US" sz="1000" dirty="0"/>
          </a:p>
        </p:txBody>
      </p:sp>
      <p:sp>
        <p:nvSpPr>
          <p:cNvPr id="13" name="Shape 8"/>
          <p:cNvSpPr/>
          <p:nvPr/>
        </p:nvSpPr>
        <p:spPr>
          <a:xfrm>
            <a:off x="502920" y="3749040"/>
            <a:ext cx="3566160" cy="2121408"/>
          </a:xfrm>
          <a:prstGeom prst="roundRect">
            <a:avLst>
              <a:gd name="adj" fmla="val 2155"/>
            </a:avLst>
          </a:prstGeom>
          <a:solidFill>
            <a:srgbClr val="FFFFFF"/>
          </a:solidFill>
          <a:ln w="12700">
            <a:solidFill>
              <a:srgbClr val="D5DDE5"/>
            </a:solidFill>
            <a:prstDash val="solid"/>
          </a:ln>
        </p:spPr>
      </p:sp>
      <p:pic>
        <p:nvPicPr>
          <p:cNvPr id="14" name="Image 3" descr="/mnt/data/uml_assets/uml_4.jpg"/>
          <p:cNvPicPr>
            <a:picLocks noChangeAspect="1"/>
          </p:cNvPicPr>
          <p:nvPr/>
        </p:nvPicPr>
        <p:blipFill>
          <a:blip r:embed="rId6"/>
          <a:stretch>
            <a:fillRect/>
          </a:stretch>
        </p:blipFill>
        <p:spPr>
          <a:xfrm>
            <a:off x="612648" y="3913632"/>
            <a:ext cx="3346704" cy="1664208"/>
          </a:xfrm>
          <a:prstGeom prst="rect">
            <a:avLst/>
          </a:prstGeom>
        </p:spPr>
      </p:pic>
      <p:sp>
        <p:nvSpPr>
          <p:cNvPr id="15" name="Text 9"/>
          <p:cNvSpPr/>
          <p:nvPr/>
        </p:nvSpPr>
        <p:spPr>
          <a:xfrm>
            <a:off x="640080" y="5605272"/>
            <a:ext cx="3291840" cy="182880"/>
          </a:xfrm>
          <a:prstGeom prst="rect">
            <a:avLst/>
          </a:prstGeom>
          <a:noFill/>
          <a:ln/>
        </p:spPr>
        <p:txBody>
          <a:bodyPr wrap="square" lIns="0" tIns="0" rIns="0" bIns="0" rtlCol="0" anchor="ctr"/>
          <a:lstStyle/>
          <a:p>
            <a:pPr marL="0" indent="0" algn="ctr">
              <a:buNone/>
            </a:pPr>
            <a:r>
              <a:rPr lang="en-US" sz="1000" b="1" dirty="0">
                <a:solidFill>
                  <a:srgbClr val="153A5B"/>
                </a:solidFill>
              </a:rPr>
              <a:t>Sequence</a:t>
            </a:r>
            <a:endParaRPr lang="en-US" sz="1000" dirty="0"/>
          </a:p>
        </p:txBody>
      </p:sp>
      <p:sp>
        <p:nvSpPr>
          <p:cNvPr id="16" name="Shape 10"/>
          <p:cNvSpPr/>
          <p:nvPr/>
        </p:nvSpPr>
        <p:spPr>
          <a:xfrm>
            <a:off x="4389120" y="3749040"/>
            <a:ext cx="3566160" cy="2121408"/>
          </a:xfrm>
          <a:prstGeom prst="roundRect">
            <a:avLst>
              <a:gd name="adj" fmla="val 2155"/>
            </a:avLst>
          </a:prstGeom>
          <a:solidFill>
            <a:srgbClr val="FFFFFF"/>
          </a:solidFill>
          <a:ln w="12700">
            <a:solidFill>
              <a:srgbClr val="D5DDE5"/>
            </a:solidFill>
            <a:prstDash val="solid"/>
          </a:ln>
        </p:spPr>
      </p:sp>
      <p:pic>
        <p:nvPicPr>
          <p:cNvPr id="17" name="Image 4" descr="/mnt/data/uml_assets/uml_5.jpg"/>
          <p:cNvPicPr>
            <a:picLocks noChangeAspect="1"/>
          </p:cNvPicPr>
          <p:nvPr/>
        </p:nvPicPr>
        <p:blipFill>
          <a:blip r:embed="rId7"/>
          <a:stretch>
            <a:fillRect/>
          </a:stretch>
        </p:blipFill>
        <p:spPr>
          <a:xfrm>
            <a:off x="4498848" y="3913632"/>
            <a:ext cx="3346704" cy="1664208"/>
          </a:xfrm>
          <a:prstGeom prst="rect">
            <a:avLst/>
          </a:prstGeom>
        </p:spPr>
      </p:pic>
      <p:sp>
        <p:nvSpPr>
          <p:cNvPr id="18" name="Text 11"/>
          <p:cNvSpPr/>
          <p:nvPr/>
        </p:nvSpPr>
        <p:spPr>
          <a:xfrm>
            <a:off x="4526280" y="5605272"/>
            <a:ext cx="3291840" cy="182880"/>
          </a:xfrm>
          <a:prstGeom prst="rect">
            <a:avLst/>
          </a:prstGeom>
          <a:noFill/>
          <a:ln/>
        </p:spPr>
        <p:txBody>
          <a:bodyPr wrap="square" lIns="0" tIns="0" rIns="0" bIns="0" rtlCol="0" anchor="ctr"/>
          <a:lstStyle/>
          <a:p>
            <a:pPr marL="0" indent="0" algn="ctr">
              <a:buNone/>
            </a:pPr>
            <a:r>
              <a:rPr lang="en-US" sz="1000" b="1" dirty="0">
                <a:solidFill>
                  <a:srgbClr val="153A5B"/>
                </a:solidFill>
              </a:rPr>
              <a:t>State</a:t>
            </a:r>
            <a:endParaRPr lang="en-US" sz="1000" dirty="0"/>
          </a:p>
        </p:txBody>
      </p:sp>
      <p:sp>
        <p:nvSpPr>
          <p:cNvPr id="19" name="Text 12"/>
          <p:cNvSpPr/>
          <p:nvPr/>
        </p:nvSpPr>
        <p:spPr>
          <a:xfrm>
            <a:off x="640080" y="6199632"/>
            <a:ext cx="10881360" cy="256032"/>
          </a:xfrm>
          <a:prstGeom prst="rect">
            <a:avLst/>
          </a:prstGeom>
          <a:noFill/>
          <a:ln/>
        </p:spPr>
        <p:txBody>
          <a:bodyPr wrap="square" lIns="0" tIns="0" rIns="0" bIns="0" rtlCol="0" anchor="ctr"/>
          <a:lstStyle/>
          <a:p>
            <a:pPr marL="0" indent="0" algn="ctr">
              <a:buNone/>
            </a:pPr>
            <a:r>
              <a:rPr lang="en-US" sz="1050" dirty="0">
                <a:solidFill>
                  <a:srgbClr val="475467"/>
                </a:solidFill>
              </a:rPr>
              <a:t>The diagrams show actors and functions, system classes and relationships, enrollment workflow, component interactions, and enrollment states.</a:t>
            </a:r>
            <a:endParaRPr lang="en-US" sz="1050" dirty="0"/>
          </a:p>
        </p:txBody>
      </p:sp>
      <p:sp>
        <p:nvSpPr>
          <p:cNvPr id="25" name="Slide Number Placeholder 0"/>
          <p:cNvSpPr>
            <a:spLocks noGrp="1"/>
          </p:cNvSpPr>
          <p:nvPr>
            <p:ph type="sldNum" sz="quarter" idx="4294967295"/>
          </p:nvPr>
        </p:nvSpPr>
        <p:spPr>
          <a:xfrm>
            <a:off x="1184148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4</a:t>
            </a:fld>
            <a:endParaRPr lang="en-US"/>
          </a:p>
        </p:txBody>
      </p:sp>
    </p:spTree>
    <p:extLst>
      <p:ext uri="{BB962C8B-B14F-4D97-AF65-F5344CB8AC3E}">
        <p14:creationId xmlns:p14="http://schemas.microsoft.com/office/powerpoint/2010/main" val="2109016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2600" y="482600"/>
            <a:ext cx="10789920" cy="438912"/>
          </a:xfrm>
          <a:prstGeom prst="rect">
            <a:avLst/>
          </a:prstGeom>
          <a:noFill/>
          <a:ln/>
        </p:spPr>
        <p:txBody>
          <a:bodyPr wrap="square" lIns="0" tIns="0" rIns="0" bIns="0" rtlCol="0" anchor="ctr"/>
          <a:lstStyle/>
          <a:p>
            <a:pPr marL="0" indent="0">
              <a:buNone/>
            </a:pPr>
            <a:r>
              <a:rPr lang="en-US" sz="2500" b="1" dirty="0">
                <a:solidFill>
                  <a:srgbClr val="153A5B"/>
                </a:solidFill>
                <a:latin typeface="Aptos Display"/>
                <a:ea typeface="Aptos Display" pitchFamily="34" charset="-122"/>
                <a:cs typeface="Aptos Display" pitchFamily="34" charset="-120"/>
              </a:rPr>
              <a:t>4. Enrollment State Model</a:t>
            </a:r>
            <a:endParaRPr lang="en-US" sz="2500" dirty="0">
              <a:latin typeface="Aptos Display"/>
            </a:endParaRPr>
          </a:p>
        </p:txBody>
      </p:sp>
      <p:sp>
        <p:nvSpPr>
          <p:cNvPr id="3" name="Text 1"/>
          <p:cNvSpPr/>
          <p:nvPr/>
        </p:nvSpPr>
        <p:spPr>
          <a:xfrm>
            <a:off x="530352" y="918464"/>
            <a:ext cx="10698480" cy="256032"/>
          </a:xfrm>
          <a:prstGeom prst="rect">
            <a:avLst/>
          </a:prstGeom>
          <a:noFill/>
          <a:ln/>
        </p:spPr>
        <p:txBody>
          <a:bodyPr wrap="square" lIns="0" tIns="0" rIns="0" bIns="0" rtlCol="0" anchor="ctr"/>
          <a:lstStyle/>
          <a:p>
            <a:pPr marL="0" indent="0">
              <a:buNone/>
            </a:pPr>
            <a:r>
              <a:rPr lang="en-US" sz="1050" dirty="0">
                <a:solidFill>
                  <a:srgbClr val="667085"/>
                </a:solidFill>
              </a:rPr>
              <a:t>The state diagram explains how registration status changes over time.</a:t>
            </a:r>
            <a:endParaRPr lang="en-US" sz="1050" dirty="0"/>
          </a:p>
        </p:txBody>
      </p:sp>
      <p:pic>
        <p:nvPicPr>
          <p:cNvPr id="4" name="Image 0" descr="/mnt/data/uml_assets/uml_5.jpg"/>
          <p:cNvPicPr>
            <a:picLocks noChangeAspect="1"/>
          </p:cNvPicPr>
          <p:nvPr/>
        </p:nvPicPr>
        <p:blipFill>
          <a:blip r:embed="rId3"/>
          <a:stretch>
            <a:fillRect/>
          </a:stretch>
        </p:blipFill>
        <p:spPr>
          <a:xfrm>
            <a:off x="640080" y="1234440"/>
            <a:ext cx="10927080" cy="4526280"/>
          </a:xfrm>
          <a:prstGeom prst="rect">
            <a:avLst/>
          </a:prstGeom>
        </p:spPr>
      </p:pic>
      <p:sp>
        <p:nvSpPr>
          <p:cNvPr id="5" name="Shape 2"/>
          <p:cNvSpPr/>
          <p:nvPr/>
        </p:nvSpPr>
        <p:spPr>
          <a:xfrm>
            <a:off x="1143000" y="5897880"/>
            <a:ext cx="1901952" cy="384048"/>
          </a:xfrm>
          <a:prstGeom prst="roundRect">
            <a:avLst>
              <a:gd name="adj" fmla="val 14286"/>
            </a:avLst>
          </a:prstGeom>
          <a:solidFill>
            <a:srgbClr val="E7EEF5"/>
          </a:solidFill>
          <a:ln w="12700">
            <a:solidFill>
              <a:srgbClr val="B9C7D4"/>
            </a:solidFill>
            <a:prstDash val="solid"/>
          </a:ln>
        </p:spPr>
      </p:sp>
      <p:sp>
        <p:nvSpPr>
          <p:cNvPr id="6" name="Text 3"/>
          <p:cNvSpPr/>
          <p:nvPr/>
        </p:nvSpPr>
        <p:spPr>
          <a:xfrm>
            <a:off x="1179576" y="5961888"/>
            <a:ext cx="1828800" cy="164592"/>
          </a:xfrm>
          <a:prstGeom prst="rect">
            <a:avLst/>
          </a:prstGeom>
          <a:noFill/>
          <a:ln/>
        </p:spPr>
        <p:txBody>
          <a:bodyPr wrap="square" lIns="0" tIns="0" rIns="0" bIns="0" rtlCol="0" anchor="ctr"/>
          <a:lstStyle/>
          <a:p>
            <a:pPr marL="0" indent="0" algn="ctr">
              <a:buNone/>
            </a:pPr>
            <a:r>
              <a:rPr lang="en-US" sz="900" b="1" dirty="0">
                <a:solidFill>
                  <a:srgbClr val="153A5B"/>
                </a:solidFill>
              </a:rPr>
              <a:t>Not Enrolled</a:t>
            </a:r>
            <a:endParaRPr lang="en-US" sz="900" dirty="0"/>
          </a:p>
        </p:txBody>
      </p:sp>
      <p:sp>
        <p:nvSpPr>
          <p:cNvPr id="7" name="Shape 4"/>
          <p:cNvSpPr/>
          <p:nvPr/>
        </p:nvSpPr>
        <p:spPr>
          <a:xfrm>
            <a:off x="3136392" y="5897880"/>
            <a:ext cx="1901952" cy="384048"/>
          </a:xfrm>
          <a:prstGeom prst="roundRect">
            <a:avLst>
              <a:gd name="adj" fmla="val 14286"/>
            </a:avLst>
          </a:prstGeom>
          <a:solidFill>
            <a:srgbClr val="E7EEF5"/>
          </a:solidFill>
          <a:ln w="12700">
            <a:solidFill>
              <a:srgbClr val="B9C7D4"/>
            </a:solidFill>
            <a:prstDash val="solid"/>
          </a:ln>
        </p:spPr>
      </p:sp>
      <p:sp>
        <p:nvSpPr>
          <p:cNvPr id="8" name="Text 5"/>
          <p:cNvSpPr/>
          <p:nvPr/>
        </p:nvSpPr>
        <p:spPr>
          <a:xfrm>
            <a:off x="3172968" y="5961888"/>
            <a:ext cx="1828800" cy="164592"/>
          </a:xfrm>
          <a:prstGeom prst="rect">
            <a:avLst/>
          </a:prstGeom>
          <a:noFill/>
          <a:ln/>
        </p:spPr>
        <p:txBody>
          <a:bodyPr wrap="square" lIns="0" tIns="0" rIns="0" bIns="0" rtlCol="0" anchor="ctr"/>
          <a:lstStyle/>
          <a:p>
            <a:pPr marL="0" indent="0" algn="ctr">
              <a:buNone/>
            </a:pPr>
            <a:r>
              <a:rPr lang="en-US" sz="900" b="1" dirty="0">
                <a:solidFill>
                  <a:srgbClr val="153A5B"/>
                </a:solidFill>
              </a:rPr>
              <a:t>Waitlisted</a:t>
            </a:r>
            <a:endParaRPr lang="en-US" sz="900" dirty="0"/>
          </a:p>
        </p:txBody>
      </p:sp>
      <p:sp>
        <p:nvSpPr>
          <p:cNvPr id="9" name="Shape 6"/>
          <p:cNvSpPr/>
          <p:nvPr/>
        </p:nvSpPr>
        <p:spPr>
          <a:xfrm>
            <a:off x="5129784" y="5897880"/>
            <a:ext cx="1901952" cy="384048"/>
          </a:xfrm>
          <a:prstGeom prst="roundRect">
            <a:avLst>
              <a:gd name="adj" fmla="val 14286"/>
            </a:avLst>
          </a:prstGeom>
          <a:solidFill>
            <a:srgbClr val="E7EEF5"/>
          </a:solidFill>
          <a:ln w="12700">
            <a:solidFill>
              <a:srgbClr val="B9C7D4"/>
            </a:solidFill>
            <a:prstDash val="solid"/>
          </a:ln>
        </p:spPr>
      </p:sp>
      <p:sp>
        <p:nvSpPr>
          <p:cNvPr id="10" name="Text 7"/>
          <p:cNvSpPr/>
          <p:nvPr/>
        </p:nvSpPr>
        <p:spPr>
          <a:xfrm>
            <a:off x="5166360" y="5961888"/>
            <a:ext cx="1828800" cy="164592"/>
          </a:xfrm>
          <a:prstGeom prst="rect">
            <a:avLst/>
          </a:prstGeom>
          <a:noFill/>
          <a:ln/>
        </p:spPr>
        <p:txBody>
          <a:bodyPr wrap="square" lIns="0" tIns="0" rIns="0" bIns="0" rtlCol="0" anchor="ctr"/>
          <a:lstStyle/>
          <a:p>
            <a:pPr marL="0" indent="0" algn="ctr">
              <a:buNone/>
            </a:pPr>
            <a:r>
              <a:rPr lang="en-US" sz="900" b="1" dirty="0">
                <a:solidFill>
                  <a:srgbClr val="153A5B"/>
                </a:solidFill>
              </a:rPr>
              <a:t>Offered Seat</a:t>
            </a:r>
            <a:endParaRPr lang="en-US" sz="900" dirty="0"/>
          </a:p>
        </p:txBody>
      </p:sp>
      <p:sp>
        <p:nvSpPr>
          <p:cNvPr id="11" name="Shape 8"/>
          <p:cNvSpPr/>
          <p:nvPr/>
        </p:nvSpPr>
        <p:spPr>
          <a:xfrm>
            <a:off x="7123176" y="5897880"/>
            <a:ext cx="1901952" cy="384048"/>
          </a:xfrm>
          <a:prstGeom prst="roundRect">
            <a:avLst>
              <a:gd name="adj" fmla="val 14286"/>
            </a:avLst>
          </a:prstGeom>
          <a:solidFill>
            <a:srgbClr val="E7EEF5"/>
          </a:solidFill>
          <a:ln w="12700">
            <a:solidFill>
              <a:srgbClr val="B9C7D4"/>
            </a:solidFill>
            <a:prstDash val="solid"/>
          </a:ln>
        </p:spPr>
      </p:sp>
      <p:sp>
        <p:nvSpPr>
          <p:cNvPr id="12" name="Text 9"/>
          <p:cNvSpPr/>
          <p:nvPr/>
        </p:nvSpPr>
        <p:spPr>
          <a:xfrm>
            <a:off x="7159752" y="5961888"/>
            <a:ext cx="1828800" cy="164592"/>
          </a:xfrm>
          <a:prstGeom prst="rect">
            <a:avLst/>
          </a:prstGeom>
          <a:noFill/>
          <a:ln/>
        </p:spPr>
        <p:txBody>
          <a:bodyPr wrap="square" lIns="0" tIns="0" rIns="0" bIns="0" rtlCol="0" anchor="ctr"/>
          <a:lstStyle/>
          <a:p>
            <a:pPr marL="0" indent="0" algn="ctr">
              <a:buNone/>
            </a:pPr>
            <a:r>
              <a:rPr lang="en-US" sz="900" b="1" dirty="0">
                <a:solidFill>
                  <a:srgbClr val="153A5B"/>
                </a:solidFill>
              </a:rPr>
              <a:t>Enrolled</a:t>
            </a:r>
            <a:endParaRPr lang="en-US" sz="900" dirty="0"/>
          </a:p>
        </p:txBody>
      </p:sp>
      <p:sp>
        <p:nvSpPr>
          <p:cNvPr id="13" name="Shape 10"/>
          <p:cNvSpPr/>
          <p:nvPr/>
        </p:nvSpPr>
        <p:spPr>
          <a:xfrm>
            <a:off x="9116568" y="5897880"/>
            <a:ext cx="1901952" cy="384048"/>
          </a:xfrm>
          <a:prstGeom prst="roundRect">
            <a:avLst>
              <a:gd name="adj" fmla="val 14286"/>
            </a:avLst>
          </a:prstGeom>
          <a:solidFill>
            <a:srgbClr val="E7EEF5"/>
          </a:solidFill>
          <a:ln w="12700">
            <a:solidFill>
              <a:srgbClr val="B9C7D4"/>
            </a:solidFill>
            <a:prstDash val="solid"/>
          </a:ln>
        </p:spPr>
      </p:sp>
      <p:sp>
        <p:nvSpPr>
          <p:cNvPr id="14" name="Text 11"/>
          <p:cNvSpPr/>
          <p:nvPr/>
        </p:nvSpPr>
        <p:spPr>
          <a:xfrm>
            <a:off x="9153144" y="5961888"/>
            <a:ext cx="1828800" cy="164592"/>
          </a:xfrm>
          <a:prstGeom prst="rect">
            <a:avLst/>
          </a:prstGeom>
          <a:noFill/>
          <a:ln/>
        </p:spPr>
        <p:txBody>
          <a:bodyPr wrap="square" lIns="0" tIns="0" rIns="0" bIns="0" rtlCol="0" anchor="ctr"/>
          <a:lstStyle/>
          <a:p>
            <a:pPr marL="0" indent="0" algn="ctr">
              <a:buNone/>
            </a:pPr>
            <a:r>
              <a:rPr lang="en-US" sz="900" b="1" dirty="0">
                <a:solidFill>
                  <a:srgbClr val="153A5B"/>
                </a:solidFill>
              </a:rPr>
              <a:t>Cancelled</a:t>
            </a:r>
            <a:endParaRPr lang="en-US" sz="900" dirty="0"/>
          </a:p>
        </p:txBody>
      </p:sp>
      <p:sp>
        <p:nvSpPr>
          <p:cNvPr id="25" name="Slide Number Placeholder 0"/>
          <p:cNvSpPr>
            <a:spLocks noGrp="1"/>
          </p:cNvSpPr>
          <p:nvPr>
            <p:ph type="sldNum" sz="quarter" idx="4294967295"/>
          </p:nvPr>
        </p:nvSpPr>
        <p:spPr>
          <a:xfrm>
            <a:off x="1184148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5</a:t>
            </a:fld>
            <a:endParaRPr lang="en-US"/>
          </a:p>
        </p:txBody>
      </p:sp>
    </p:spTree>
    <p:extLst>
      <p:ext uri="{BB962C8B-B14F-4D97-AF65-F5344CB8AC3E}">
        <p14:creationId xmlns:p14="http://schemas.microsoft.com/office/powerpoint/2010/main" val="166125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5. Website Design: Landing, Login, Registration</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Actual interface screens from the completed application</a:t>
            </a:r>
            <a:endParaRPr lang="en-US" sz="1100" dirty="0"/>
          </a:p>
        </p:txBody>
      </p:sp>
      <p:pic>
        <p:nvPicPr>
          <p:cNvPr id="4" name="Image 0"/>
          <p:cNvPicPr>
            <a:picLocks noChangeAspect="1"/>
          </p:cNvPicPr>
          <p:nvPr/>
        </p:nvPicPr>
        <p:blipFill>
          <a:blip r:embed="rId3"/>
          <a:stretch>
            <a:fillRect/>
          </a:stretch>
        </p:blipFill>
        <p:spPr>
          <a:xfrm>
            <a:off x="847518" y="1572768"/>
            <a:ext cx="2648362" cy="3520440"/>
          </a:xfrm>
          <a:prstGeom prst="rect">
            <a:avLst/>
          </a:prstGeom>
        </p:spPr>
      </p:pic>
      <p:sp>
        <p:nvSpPr>
          <p:cNvPr id="5" name="Text 2"/>
          <p:cNvSpPr/>
          <p:nvPr/>
        </p:nvSpPr>
        <p:spPr>
          <a:xfrm>
            <a:off x="502920" y="5230368"/>
            <a:ext cx="3337560" cy="256032"/>
          </a:xfrm>
          <a:prstGeom prst="rect">
            <a:avLst/>
          </a:prstGeom>
          <a:noFill/>
          <a:ln/>
        </p:spPr>
        <p:txBody>
          <a:bodyPr wrap="square" lIns="0" tIns="0" rIns="0" bIns="0" rtlCol="0" anchor="ctr"/>
          <a:lstStyle/>
          <a:p>
            <a:pPr marL="0" indent="0" algn="ctr">
              <a:buNone/>
            </a:pPr>
            <a:r>
              <a:rPr lang="en-US" sz="1350" b="1" dirty="0">
                <a:solidFill>
                  <a:srgbClr val="102A43"/>
                </a:solidFill>
              </a:rPr>
              <a:t>Landing Page</a:t>
            </a:r>
            <a:endParaRPr lang="en-US" sz="1350" dirty="0"/>
          </a:p>
        </p:txBody>
      </p:sp>
      <p:sp>
        <p:nvSpPr>
          <p:cNvPr id="6" name="Text 3"/>
          <p:cNvSpPr/>
          <p:nvPr/>
        </p:nvSpPr>
        <p:spPr>
          <a:xfrm>
            <a:off x="502920" y="5532120"/>
            <a:ext cx="3337560" cy="201168"/>
          </a:xfrm>
          <a:prstGeom prst="rect">
            <a:avLst/>
          </a:prstGeom>
          <a:noFill/>
          <a:ln/>
        </p:spPr>
        <p:txBody>
          <a:bodyPr wrap="square" lIns="0" tIns="0" rIns="0" bIns="0" rtlCol="0" anchor="ctr"/>
          <a:lstStyle/>
          <a:p>
            <a:pPr marL="0" indent="0" algn="ctr">
              <a:buNone/>
            </a:pPr>
            <a:r>
              <a:rPr lang="en-US" sz="1050" i="1" dirty="0">
                <a:solidFill>
                  <a:srgbClr val="486581"/>
                </a:solidFill>
              </a:rPr>
              <a:t>index.php</a:t>
            </a:r>
            <a:endParaRPr lang="en-US" sz="1050" dirty="0"/>
          </a:p>
        </p:txBody>
      </p:sp>
      <p:pic>
        <p:nvPicPr>
          <p:cNvPr id="7" name="Image 1"/>
          <p:cNvPicPr>
            <a:picLocks noChangeAspect="1"/>
          </p:cNvPicPr>
          <p:nvPr/>
        </p:nvPicPr>
        <p:blipFill>
          <a:blip r:embed="rId4"/>
          <a:stretch>
            <a:fillRect/>
          </a:stretch>
        </p:blipFill>
        <p:spPr>
          <a:xfrm>
            <a:off x="4433703" y="1572768"/>
            <a:ext cx="2644890" cy="3520440"/>
          </a:xfrm>
          <a:prstGeom prst="rect">
            <a:avLst/>
          </a:prstGeom>
        </p:spPr>
      </p:pic>
      <p:sp>
        <p:nvSpPr>
          <p:cNvPr id="8" name="Text 4"/>
          <p:cNvSpPr/>
          <p:nvPr/>
        </p:nvSpPr>
        <p:spPr>
          <a:xfrm>
            <a:off x="4087368" y="5230368"/>
            <a:ext cx="3337560" cy="256032"/>
          </a:xfrm>
          <a:prstGeom prst="rect">
            <a:avLst/>
          </a:prstGeom>
          <a:noFill/>
          <a:ln/>
        </p:spPr>
        <p:txBody>
          <a:bodyPr wrap="square" lIns="0" tIns="0" rIns="0" bIns="0" rtlCol="0" anchor="ctr"/>
          <a:lstStyle/>
          <a:p>
            <a:pPr marL="0" indent="0" algn="ctr">
              <a:buNone/>
            </a:pPr>
            <a:r>
              <a:rPr lang="en-US" sz="1350" b="1" dirty="0">
                <a:solidFill>
                  <a:srgbClr val="102A43"/>
                </a:solidFill>
              </a:rPr>
              <a:t>Login Page</a:t>
            </a:r>
            <a:endParaRPr lang="en-US" sz="1350" dirty="0"/>
          </a:p>
        </p:txBody>
      </p:sp>
      <p:sp>
        <p:nvSpPr>
          <p:cNvPr id="9" name="Text 5"/>
          <p:cNvSpPr/>
          <p:nvPr/>
        </p:nvSpPr>
        <p:spPr>
          <a:xfrm>
            <a:off x="4087368" y="5532120"/>
            <a:ext cx="3337560" cy="201168"/>
          </a:xfrm>
          <a:prstGeom prst="rect">
            <a:avLst/>
          </a:prstGeom>
          <a:noFill/>
          <a:ln/>
        </p:spPr>
        <p:txBody>
          <a:bodyPr wrap="square" lIns="0" tIns="0" rIns="0" bIns="0" rtlCol="0" anchor="ctr"/>
          <a:lstStyle/>
          <a:p>
            <a:pPr marL="0" indent="0" algn="ctr">
              <a:buNone/>
            </a:pPr>
            <a:r>
              <a:rPr lang="en-US" sz="1050" i="1" dirty="0">
                <a:solidFill>
                  <a:srgbClr val="486581"/>
                </a:solidFill>
              </a:rPr>
              <a:t>login.php</a:t>
            </a:r>
            <a:endParaRPr lang="en-US" sz="1050" dirty="0"/>
          </a:p>
        </p:txBody>
      </p:sp>
      <p:pic>
        <p:nvPicPr>
          <p:cNvPr id="10" name="Image 2"/>
          <p:cNvPicPr>
            <a:picLocks noChangeAspect="1"/>
          </p:cNvPicPr>
          <p:nvPr/>
        </p:nvPicPr>
        <p:blipFill>
          <a:blip r:embed="rId5"/>
          <a:stretch>
            <a:fillRect/>
          </a:stretch>
        </p:blipFill>
        <p:spPr>
          <a:xfrm>
            <a:off x="8011914" y="1572768"/>
            <a:ext cx="2657364" cy="3520440"/>
          </a:xfrm>
          <a:prstGeom prst="rect">
            <a:avLst/>
          </a:prstGeom>
        </p:spPr>
      </p:pic>
      <p:sp>
        <p:nvSpPr>
          <p:cNvPr id="11" name="Text 6"/>
          <p:cNvSpPr/>
          <p:nvPr/>
        </p:nvSpPr>
        <p:spPr>
          <a:xfrm>
            <a:off x="7671816" y="5230368"/>
            <a:ext cx="3337560" cy="256032"/>
          </a:xfrm>
          <a:prstGeom prst="rect">
            <a:avLst/>
          </a:prstGeom>
          <a:noFill/>
          <a:ln/>
        </p:spPr>
        <p:txBody>
          <a:bodyPr wrap="square" lIns="0" tIns="0" rIns="0" bIns="0" rtlCol="0" anchor="ctr"/>
          <a:lstStyle/>
          <a:p>
            <a:pPr marL="0" indent="0" algn="ctr">
              <a:buNone/>
            </a:pPr>
            <a:r>
              <a:rPr lang="en-US" sz="1350" b="1" dirty="0">
                <a:solidFill>
                  <a:srgbClr val="102A43"/>
                </a:solidFill>
              </a:rPr>
              <a:t>Registration Page</a:t>
            </a:r>
            <a:endParaRPr lang="en-US" sz="1350" dirty="0"/>
          </a:p>
        </p:txBody>
      </p:sp>
      <p:sp>
        <p:nvSpPr>
          <p:cNvPr id="12" name="Text 7"/>
          <p:cNvSpPr/>
          <p:nvPr/>
        </p:nvSpPr>
        <p:spPr>
          <a:xfrm>
            <a:off x="7671816" y="5532120"/>
            <a:ext cx="3337560" cy="201168"/>
          </a:xfrm>
          <a:prstGeom prst="rect">
            <a:avLst/>
          </a:prstGeom>
          <a:noFill/>
          <a:ln/>
        </p:spPr>
        <p:txBody>
          <a:bodyPr wrap="square" lIns="0" tIns="0" rIns="0" bIns="0" rtlCol="0" anchor="ctr"/>
          <a:lstStyle/>
          <a:p>
            <a:pPr marL="0" indent="0" algn="ctr">
              <a:buNone/>
            </a:pPr>
            <a:r>
              <a:rPr lang="en-US" sz="1050" i="1" dirty="0">
                <a:solidFill>
                  <a:srgbClr val="486581"/>
                </a:solidFill>
              </a:rPr>
              <a:t>registration.php</a:t>
            </a:r>
            <a:endParaRPr lang="en-US" sz="1050" dirty="0"/>
          </a:p>
        </p:txBody>
      </p:sp>
      <p:sp>
        <p:nvSpPr>
          <p:cNvPr id="13" name="Text 8"/>
          <p:cNvSpPr/>
          <p:nvPr/>
        </p:nvSpPr>
        <p:spPr>
          <a:xfrm>
            <a:off x="685800" y="5925312"/>
            <a:ext cx="10835640" cy="228600"/>
          </a:xfrm>
          <a:prstGeom prst="rect">
            <a:avLst/>
          </a:prstGeom>
          <a:noFill/>
          <a:ln/>
        </p:spPr>
        <p:txBody>
          <a:bodyPr wrap="square" lIns="0" tIns="0" rIns="0" bIns="0" rtlCol="0" anchor="ctr"/>
          <a:lstStyle/>
          <a:p>
            <a:pPr marL="0" indent="0" algn="ctr">
              <a:buNone/>
            </a:pPr>
            <a:r>
              <a:rPr lang="en-US" sz="1150" dirty="0">
                <a:solidFill>
                  <a:srgbClr val="243B53"/>
                </a:solidFill>
              </a:rPr>
              <a:t>Design choices: consistent header/navigation • card-based layout • clear forms and feedback • session-aware content</a:t>
            </a:r>
            <a:endParaRPr lang="en-US" sz="115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6. Enrollment Page Design</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The course catalog and My Schedule pages are database-driven</a:t>
            </a:r>
            <a:endParaRPr lang="en-US" sz="1100" dirty="0"/>
          </a:p>
        </p:txBody>
      </p:sp>
      <p:pic>
        <p:nvPicPr>
          <p:cNvPr id="4" name="Image 0"/>
          <p:cNvPicPr>
            <a:picLocks noChangeAspect="1"/>
          </p:cNvPicPr>
          <p:nvPr/>
        </p:nvPicPr>
        <p:blipFill>
          <a:blip r:embed="rId3"/>
          <a:stretch>
            <a:fillRect/>
          </a:stretch>
        </p:blipFill>
        <p:spPr>
          <a:xfrm>
            <a:off x="921726" y="1508760"/>
            <a:ext cx="4684348" cy="3489960"/>
          </a:xfrm>
          <a:prstGeom prst="rect">
            <a:avLst/>
          </a:prstGeom>
        </p:spPr>
      </p:pic>
      <p:pic>
        <p:nvPicPr>
          <p:cNvPr id="5" name="Image 1"/>
          <p:cNvPicPr>
            <a:picLocks noChangeAspect="1"/>
          </p:cNvPicPr>
          <p:nvPr/>
        </p:nvPicPr>
        <p:blipFill>
          <a:blip r:embed="rId4"/>
          <a:stretch>
            <a:fillRect/>
          </a:stretch>
        </p:blipFill>
        <p:spPr>
          <a:xfrm>
            <a:off x="6587635" y="1508760"/>
            <a:ext cx="4680929" cy="3337560"/>
          </a:xfrm>
          <a:prstGeom prst="rect">
            <a:avLst/>
          </a:prstGeom>
        </p:spPr>
      </p:pic>
      <p:sp>
        <p:nvSpPr>
          <p:cNvPr id="6" name="Text 2"/>
          <p:cNvSpPr/>
          <p:nvPr/>
        </p:nvSpPr>
        <p:spPr>
          <a:xfrm>
            <a:off x="594360" y="4983480"/>
            <a:ext cx="5349240" cy="274320"/>
          </a:xfrm>
          <a:prstGeom prst="rect">
            <a:avLst/>
          </a:prstGeom>
          <a:noFill/>
          <a:ln/>
        </p:spPr>
        <p:txBody>
          <a:bodyPr wrap="square" lIns="0" tIns="0" rIns="0" bIns="0" rtlCol="0" anchor="ctr"/>
          <a:lstStyle/>
          <a:p>
            <a:pPr marL="0" indent="0" algn="ctr">
              <a:buNone/>
            </a:pPr>
            <a:r>
              <a:rPr lang="en-US" sz="1400" b="1" dirty="0">
                <a:solidFill>
                  <a:srgbClr val="102A43"/>
                </a:solidFill>
              </a:rPr>
              <a:t>Course Catalog (courses.php)</a:t>
            </a:r>
            <a:endParaRPr lang="en-US" sz="1400" dirty="0"/>
          </a:p>
        </p:txBody>
      </p:sp>
      <p:sp>
        <p:nvSpPr>
          <p:cNvPr id="7" name="Text 3"/>
          <p:cNvSpPr/>
          <p:nvPr/>
        </p:nvSpPr>
        <p:spPr>
          <a:xfrm>
            <a:off x="6263640" y="4983480"/>
            <a:ext cx="5349240" cy="274320"/>
          </a:xfrm>
          <a:prstGeom prst="rect">
            <a:avLst/>
          </a:prstGeom>
          <a:noFill/>
          <a:ln/>
        </p:spPr>
        <p:txBody>
          <a:bodyPr wrap="square" lIns="0" tIns="0" rIns="0" bIns="0" rtlCol="0" anchor="ctr"/>
          <a:lstStyle/>
          <a:p>
            <a:pPr marL="0" indent="0" algn="ctr">
              <a:buNone/>
            </a:pPr>
            <a:r>
              <a:rPr lang="en-US" sz="1400" b="1" dirty="0">
                <a:solidFill>
                  <a:srgbClr val="102A43"/>
                </a:solidFill>
              </a:rPr>
              <a:t>My Schedule (my_courses.php)</a:t>
            </a:r>
            <a:endParaRPr lang="en-US" sz="1400" dirty="0"/>
          </a:p>
        </p:txBody>
      </p:sp>
      <p:sp>
        <p:nvSpPr>
          <p:cNvPr id="8" name="Text 4"/>
          <p:cNvSpPr/>
          <p:nvPr/>
        </p:nvSpPr>
        <p:spPr>
          <a:xfrm>
            <a:off x="822960" y="5440680"/>
            <a:ext cx="10561320" cy="411480"/>
          </a:xfrm>
          <a:prstGeom prst="rect">
            <a:avLst/>
          </a:prstGeom>
          <a:noFill/>
          <a:ln/>
        </p:spPr>
        <p:txBody>
          <a:bodyPr wrap="square" lIns="0" tIns="0" rIns="0" bIns="0" rtlCol="0" anchor="ctr"/>
          <a:lstStyle/>
          <a:p>
            <a:pPr marL="0" indent="0" algn="ctr">
              <a:buNone/>
            </a:pPr>
            <a:r>
              <a:rPr lang="en-US" sz="1250" dirty="0">
                <a:solidFill>
                  <a:srgbClr val="243B53"/>
                </a:solidFill>
              </a:rPr>
              <a:t>Enroll = open seat • Drop = already enrolled • Full = no capacity • Login prompt = unauthenticated visitor</a:t>
            </a:r>
            <a:endParaRPr lang="en-US" sz="1250" dirty="0"/>
          </a:p>
        </p:txBody>
      </p:sp>
      <p:sp>
        <p:nvSpPr>
          <p:cNvPr id="9" name="Text 5"/>
          <p:cNvSpPr/>
          <p:nvPr/>
        </p:nvSpPr>
        <p:spPr>
          <a:xfrm>
            <a:off x="1051560" y="5897880"/>
            <a:ext cx="10104120" cy="274320"/>
          </a:xfrm>
          <a:prstGeom prst="rect">
            <a:avLst/>
          </a:prstGeom>
          <a:noFill/>
          <a:ln/>
        </p:spPr>
        <p:txBody>
          <a:bodyPr wrap="square" lIns="0" tIns="0" rIns="0" bIns="0" rtlCol="0" anchor="ctr"/>
          <a:lstStyle/>
          <a:p>
            <a:pPr marL="0" indent="0" algn="ctr">
              <a:buNone/>
            </a:pPr>
            <a:r>
              <a:rPr lang="en-US" sz="1150" i="1" dirty="0">
                <a:solidFill>
                  <a:srgbClr val="486581"/>
                </a:solidFill>
              </a:rPr>
              <a:t>The available action changes with the student’s login and enrollment state, so the interface reflects live database data.</a:t>
            </a:r>
            <a:endParaRPr lang="en-US" sz="115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7</a:t>
            </a:fld>
            <a:endParaRPr lang="en-US"/>
          </a:p>
        </p:txBody>
      </p:sp>
      <p:sp>
        <p:nvSpPr>
          <p:cNvPr id="11" name="Text 2">
            <a:extLst>
              <a:ext uri="{FF2B5EF4-FFF2-40B4-BE49-F238E27FC236}">
                <a16:creationId xmlns:a16="http://schemas.microsoft.com/office/drawing/2014/main" id="{61415524-A50E-F0B7-F5D8-6AB1EC3CAAAA}"/>
              </a:ext>
            </a:extLst>
          </p:cNvPr>
          <p:cNvSpPr/>
          <p:nvPr/>
        </p:nvSpPr>
        <p:spPr>
          <a:xfrm>
            <a:off x="5445760" y="1518920"/>
            <a:ext cx="1828800" cy="2880360"/>
          </a:xfrm>
          <a:prstGeom prst="rect">
            <a:avLst/>
          </a:prstGeom>
          <a:noFill/>
          <a:ln/>
        </p:spPr>
        <p:txBody>
          <a:bodyPr wrap="square" lIns="0" tIns="0" rIns="0" bIns="0" rtlCol="0" anchor="ctr"/>
          <a:lstStyle/>
          <a:p>
            <a:pPr marL="0" indent="0">
              <a:buNone/>
            </a:pPr>
            <a:r>
              <a:rPr lang="en-US" sz="1800" b="1" dirty="0">
                <a:solidFill>
                  <a:srgbClr val="102A43"/>
                </a:solidFill>
              </a:rPr>
              <a:t>1  Login</a:t>
            </a:r>
            <a:endParaRPr lang="en-US" sz="1800" dirty="0"/>
          </a:p>
          <a:p>
            <a:pPr marL="0" indent="0">
              <a:buNone/>
            </a:pPr>
            <a:r>
              <a:rPr lang="en-US" sz="1800" b="1" dirty="0">
                <a:solidFill>
                  <a:srgbClr val="102A43"/>
                </a:solidFill>
              </a:rPr>
              <a:t>2  Browse</a:t>
            </a:r>
            <a:endParaRPr lang="en-US" sz="1800" dirty="0"/>
          </a:p>
          <a:p>
            <a:pPr marL="0" indent="0">
              <a:buNone/>
            </a:pPr>
            <a:r>
              <a:rPr lang="en-US" sz="1800" b="1" dirty="0">
                <a:solidFill>
                  <a:srgbClr val="102A43"/>
                </a:solidFill>
              </a:rPr>
              <a:t>3  </a:t>
            </a:r>
            <a:r>
              <a:rPr lang="en-US" b="1" dirty="0">
                <a:solidFill>
                  <a:srgbClr val="102A43"/>
                </a:solidFill>
              </a:rPr>
              <a:t>Capacity</a:t>
            </a:r>
            <a:endParaRPr lang="en-US" sz="1800" dirty="0"/>
          </a:p>
          <a:p>
            <a:pPr marL="0" indent="0">
              <a:buNone/>
            </a:pPr>
            <a:r>
              <a:rPr lang="en-US" sz="1800" b="1" dirty="0">
                <a:solidFill>
                  <a:srgbClr val="102A43"/>
                </a:solidFill>
              </a:rPr>
              <a:t>4  Enroll</a:t>
            </a:r>
            <a:endParaRPr lang="en-US" sz="1800" dirty="0"/>
          </a:p>
          <a:p>
            <a:pPr marL="0" indent="0">
              <a:buNone/>
            </a:pPr>
            <a:r>
              <a:rPr lang="en-US" sz="1800" b="1" dirty="0">
                <a:solidFill>
                  <a:srgbClr val="102A43"/>
                </a:solidFill>
              </a:rPr>
              <a:t>5  Schedule</a:t>
            </a:r>
            <a:endParaRPr lang="en-US" sz="1800" dirty="0"/>
          </a:p>
          <a:p>
            <a:pPr marL="0" indent="0">
              <a:buNone/>
            </a:pPr>
            <a:r>
              <a:rPr lang="en-US" sz="1800" b="1" dirty="0">
                <a:solidFill>
                  <a:srgbClr val="102A43"/>
                </a:solidFill>
              </a:rPr>
              <a:t>6  Drop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7. MySQL Database and Class Registration</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The database stores identity, course, and enrollment data and enforces integrity</a:t>
            </a:r>
            <a:endParaRPr lang="en-US" sz="1100" dirty="0"/>
          </a:p>
        </p:txBody>
      </p:sp>
      <p:pic>
        <p:nvPicPr>
          <p:cNvPr id="4" name="Image 0"/>
          <p:cNvPicPr>
            <a:picLocks noChangeAspect="1"/>
          </p:cNvPicPr>
          <p:nvPr/>
        </p:nvPicPr>
        <p:blipFill>
          <a:blip r:embed="rId3"/>
          <a:stretch>
            <a:fillRect/>
          </a:stretch>
        </p:blipFill>
        <p:spPr>
          <a:xfrm>
            <a:off x="653287" y="1508760"/>
            <a:ext cx="4809746" cy="3870960"/>
          </a:xfrm>
          <a:prstGeom prst="rect">
            <a:avLst/>
          </a:prstGeom>
        </p:spPr>
      </p:pic>
      <p:sp>
        <p:nvSpPr>
          <p:cNvPr id="5" name="Shape 2"/>
          <p:cNvSpPr/>
          <p:nvPr/>
        </p:nvSpPr>
        <p:spPr>
          <a:xfrm>
            <a:off x="6446520" y="1508760"/>
            <a:ext cx="5029200" cy="3840480"/>
          </a:xfrm>
          <a:prstGeom prst="roundRect">
            <a:avLst>
              <a:gd name="adj" fmla="val 1190"/>
            </a:avLst>
          </a:prstGeom>
          <a:solidFill>
            <a:srgbClr val="EAF2F8"/>
          </a:solidFill>
          <a:ln w="12700">
            <a:solidFill>
              <a:srgbClr val="BCCCDC"/>
            </a:solidFill>
            <a:prstDash val="solid"/>
          </a:ln>
        </p:spPr>
      </p:sp>
      <p:sp>
        <p:nvSpPr>
          <p:cNvPr id="6" name="Text 3"/>
          <p:cNvSpPr/>
          <p:nvPr/>
        </p:nvSpPr>
        <p:spPr>
          <a:xfrm>
            <a:off x="6720840" y="1783080"/>
            <a:ext cx="1645920" cy="274320"/>
          </a:xfrm>
          <a:prstGeom prst="rect">
            <a:avLst/>
          </a:prstGeom>
          <a:noFill/>
          <a:ln/>
        </p:spPr>
        <p:txBody>
          <a:bodyPr wrap="square" lIns="0" tIns="0" rIns="0" bIns="0" rtlCol="0" anchor="ctr"/>
          <a:lstStyle/>
          <a:p>
            <a:pPr marL="0" indent="0">
              <a:buNone/>
            </a:pPr>
            <a:r>
              <a:rPr lang="en-US" sz="1600" b="1" dirty="0">
                <a:solidFill>
                  <a:srgbClr val="102A43"/>
                </a:solidFill>
              </a:rPr>
              <a:t>Core tables</a:t>
            </a:r>
            <a:endParaRPr lang="en-US" sz="1600" dirty="0"/>
          </a:p>
        </p:txBody>
      </p:sp>
      <p:sp>
        <p:nvSpPr>
          <p:cNvPr id="7" name="Text 4"/>
          <p:cNvSpPr/>
          <p:nvPr/>
        </p:nvSpPr>
        <p:spPr>
          <a:xfrm>
            <a:off x="6720840" y="2148840"/>
            <a:ext cx="4343400" cy="2514600"/>
          </a:xfrm>
          <a:prstGeom prst="rect">
            <a:avLst/>
          </a:prstGeom>
          <a:noFill/>
          <a:ln/>
        </p:spPr>
        <p:txBody>
          <a:bodyPr wrap="square" lIns="0" tIns="0" rIns="0" bIns="0" rtlCol="0" anchor="ctr"/>
          <a:lstStyle/>
          <a:p>
            <a:pPr marL="0" indent="0">
              <a:buNone/>
            </a:pPr>
            <a:r>
              <a:rPr lang="en-US" sz="1200" dirty="0">
                <a:solidFill>
                  <a:srgbClr val="243B53"/>
                </a:solidFill>
              </a:rPr>
              <a:t>students</a:t>
            </a:r>
            <a:endParaRPr lang="en-US" sz="1200" dirty="0"/>
          </a:p>
          <a:p>
            <a:pPr marL="0" indent="0">
              <a:buNone/>
            </a:pPr>
            <a:r>
              <a:rPr lang="en-US" sz="1200" dirty="0">
                <a:solidFill>
                  <a:srgbClr val="243B53"/>
                </a:solidFill>
              </a:rPr>
              <a:t>• student_id (PK)</a:t>
            </a:r>
            <a:endParaRPr lang="en-US" sz="1200" dirty="0"/>
          </a:p>
          <a:p>
            <a:pPr marL="0" indent="0">
              <a:buNone/>
            </a:pPr>
            <a:r>
              <a:rPr lang="en-US" sz="1200" dirty="0">
                <a:solidFill>
                  <a:srgbClr val="243B53"/>
                </a:solidFill>
              </a:rPr>
              <a:t>• user_id (UNIQUE)</a:t>
            </a:r>
            <a:endParaRPr lang="en-US" sz="1200" dirty="0"/>
          </a:p>
          <a:p>
            <a:pPr marL="0" indent="0">
              <a:buNone/>
            </a:pPr>
            <a:r>
              <a:rPr lang="en-US" sz="1200" dirty="0">
                <a:solidFill>
                  <a:srgbClr val="243B53"/>
                </a:solidFill>
              </a:rPr>
              <a:t>• password_hash</a:t>
            </a:r>
            <a:endParaRPr lang="en-US" sz="1200" dirty="0"/>
          </a:p>
          <a:p>
            <a:pPr marL="0" indent="0">
              <a:buNone/>
            </a:pPr>
            <a:r>
              <a:rPr lang="en-US" sz="1200" dirty="0">
                <a:solidFill>
                  <a:srgbClr val="243B53"/>
                </a:solidFill>
              </a:rPr>
              <a:t>• full_name / email / phone</a:t>
            </a:r>
            <a:endParaRPr lang="en-US" sz="1200" dirty="0"/>
          </a:p>
          <a:p>
            <a:pPr marL="0" indent="0">
              <a:buNone/>
            </a:pPr>
            <a:endParaRPr lang="en-US" sz="1200" dirty="0"/>
          </a:p>
          <a:p>
            <a:pPr marL="0" indent="0">
              <a:buNone/>
            </a:pPr>
            <a:r>
              <a:rPr lang="en-US" sz="1200" dirty="0">
                <a:solidFill>
                  <a:srgbClr val="243B53"/>
                </a:solidFill>
              </a:rPr>
              <a:t>courses</a:t>
            </a:r>
            <a:endParaRPr lang="en-US" sz="1200" dirty="0"/>
          </a:p>
          <a:p>
            <a:pPr marL="0" indent="0">
              <a:buNone/>
            </a:pPr>
            <a:r>
              <a:rPr lang="en-US" sz="1200" dirty="0">
                <a:solidFill>
                  <a:srgbClr val="243B53"/>
                </a:solidFill>
              </a:rPr>
              <a:t>• course_id (PK)</a:t>
            </a:r>
            <a:endParaRPr lang="en-US" sz="1200" dirty="0"/>
          </a:p>
          <a:p>
            <a:pPr marL="0" indent="0">
              <a:buNone/>
            </a:pPr>
            <a:r>
              <a:rPr lang="en-US" sz="1200" dirty="0">
                <a:solidFill>
                  <a:srgbClr val="243B53"/>
                </a:solidFill>
              </a:rPr>
              <a:t>• course_code / title</a:t>
            </a:r>
            <a:endParaRPr lang="en-US" sz="1200" dirty="0"/>
          </a:p>
          <a:p>
            <a:pPr marL="0" indent="0">
              <a:buNone/>
            </a:pPr>
            <a:r>
              <a:rPr lang="en-US" sz="1200" dirty="0">
                <a:solidFill>
                  <a:srgbClr val="243B53"/>
                </a:solidFill>
              </a:rPr>
              <a:t>• semester / max_capacity / credits</a:t>
            </a:r>
            <a:endParaRPr lang="en-US" sz="1200" dirty="0"/>
          </a:p>
          <a:p>
            <a:pPr marL="0" indent="0">
              <a:buNone/>
            </a:pPr>
            <a:endParaRPr lang="en-US" sz="1200" dirty="0"/>
          </a:p>
          <a:p>
            <a:pPr marL="0" indent="0">
              <a:buNone/>
            </a:pPr>
            <a:r>
              <a:rPr lang="en-US" sz="1200" dirty="0">
                <a:solidFill>
                  <a:srgbClr val="243B53"/>
                </a:solidFill>
              </a:rPr>
              <a:t>enrollments</a:t>
            </a:r>
            <a:endParaRPr lang="en-US" sz="1200" dirty="0"/>
          </a:p>
          <a:p>
            <a:pPr marL="0" indent="0">
              <a:buNone/>
            </a:pPr>
            <a:r>
              <a:rPr lang="en-US" sz="1200" dirty="0">
                <a:solidFill>
                  <a:srgbClr val="243B53"/>
                </a:solidFill>
              </a:rPr>
              <a:t>• enrollment_id (PK)</a:t>
            </a:r>
            <a:endParaRPr lang="en-US" sz="1200" dirty="0"/>
          </a:p>
          <a:p>
            <a:pPr marL="0" indent="0">
              <a:buNone/>
            </a:pPr>
            <a:r>
              <a:rPr lang="en-US" sz="1200" dirty="0">
                <a:solidFill>
                  <a:srgbClr val="243B53"/>
                </a:solidFill>
              </a:rPr>
              <a:t>• student_id (FK) / course_id (FK)</a:t>
            </a:r>
            <a:endParaRPr lang="en-US" sz="1200" dirty="0"/>
          </a:p>
          <a:p>
            <a:pPr marL="0" indent="0">
              <a:buNone/>
            </a:pPr>
            <a:r>
              <a:rPr lang="en-US" sz="1200" dirty="0">
                <a:solidFill>
                  <a:srgbClr val="243B53"/>
                </a:solidFill>
              </a:rPr>
              <a:t>• UNIQUE(student_id, course_id)</a:t>
            </a:r>
            <a:endParaRPr lang="en-US" sz="1200" dirty="0"/>
          </a:p>
        </p:txBody>
      </p:sp>
      <p:sp>
        <p:nvSpPr>
          <p:cNvPr id="8" name="Text 5"/>
          <p:cNvSpPr/>
          <p:nvPr/>
        </p:nvSpPr>
        <p:spPr>
          <a:xfrm>
            <a:off x="6720840" y="4892040"/>
            <a:ext cx="4343400" cy="502920"/>
          </a:xfrm>
          <a:prstGeom prst="rect">
            <a:avLst/>
          </a:prstGeom>
          <a:noFill/>
          <a:ln/>
        </p:spPr>
        <p:txBody>
          <a:bodyPr wrap="square" lIns="0" tIns="0" rIns="0" bIns="0" rtlCol="0" anchor="ctr"/>
          <a:lstStyle/>
          <a:p>
            <a:pPr marL="0" indent="0">
              <a:buNone/>
            </a:pPr>
            <a:r>
              <a:rPr lang="en-US" sz="1150" b="1" dirty="0">
                <a:solidFill>
                  <a:srgbClr val="102A43"/>
                </a:solidFill>
              </a:rPr>
              <a:t>Key behavior: check capacity → create enrollment row → schedule updates → drop deletes enrollment row.</a:t>
            </a:r>
            <a:endParaRPr lang="en-US" sz="115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8. PHP Implementation</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Source code connects the pages, sessions, validation, and MySQL operations</a:t>
            </a:r>
            <a:endParaRPr lang="en-US" sz="1100" dirty="0"/>
          </a:p>
        </p:txBody>
      </p:sp>
      <p:pic>
        <p:nvPicPr>
          <p:cNvPr id="4" name="Image 0"/>
          <p:cNvPicPr>
            <a:picLocks noChangeAspect="1"/>
          </p:cNvPicPr>
          <p:nvPr/>
        </p:nvPicPr>
        <p:blipFill>
          <a:blip r:embed="rId3"/>
          <a:stretch>
            <a:fillRect/>
          </a:stretch>
        </p:blipFill>
        <p:spPr>
          <a:xfrm>
            <a:off x="548640" y="1723747"/>
            <a:ext cx="3520440" cy="3456226"/>
          </a:xfrm>
          <a:prstGeom prst="rect">
            <a:avLst/>
          </a:prstGeom>
        </p:spPr>
      </p:pic>
      <p:pic>
        <p:nvPicPr>
          <p:cNvPr id="5" name="Image 1"/>
          <p:cNvPicPr>
            <a:picLocks noChangeAspect="1"/>
          </p:cNvPicPr>
          <p:nvPr/>
        </p:nvPicPr>
        <p:blipFill>
          <a:blip r:embed="rId4"/>
          <a:stretch>
            <a:fillRect/>
          </a:stretch>
        </p:blipFill>
        <p:spPr>
          <a:xfrm>
            <a:off x="4251960" y="1722978"/>
            <a:ext cx="3520440" cy="3457763"/>
          </a:xfrm>
          <a:prstGeom prst="rect">
            <a:avLst/>
          </a:prstGeom>
        </p:spPr>
      </p:pic>
      <p:pic>
        <p:nvPicPr>
          <p:cNvPr id="6" name="Image 2"/>
          <p:cNvPicPr>
            <a:picLocks noChangeAspect="1"/>
          </p:cNvPicPr>
          <p:nvPr/>
        </p:nvPicPr>
        <p:blipFill>
          <a:blip r:embed="rId5"/>
          <a:stretch>
            <a:fillRect/>
          </a:stretch>
        </p:blipFill>
        <p:spPr>
          <a:xfrm>
            <a:off x="7955280" y="1725870"/>
            <a:ext cx="3642360" cy="3451980"/>
          </a:xfrm>
          <a:prstGeom prst="rect">
            <a:avLst/>
          </a:prstGeom>
        </p:spPr>
      </p:pic>
      <p:sp>
        <p:nvSpPr>
          <p:cNvPr id="7" name="Text 2"/>
          <p:cNvSpPr/>
          <p:nvPr/>
        </p:nvSpPr>
        <p:spPr>
          <a:xfrm>
            <a:off x="548640" y="5504688"/>
            <a:ext cx="3520440" cy="274320"/>
          </a:xfrm>
          <a:prstGeom prst="rect">
            <a:avLst/>
          </a:prstGeom>
          <a:noFill/>
          <a:ln/>
        </p:spPr>
        <p:txBody>
          <a:bodyPr wrap="square" lIns="0" tIns="0" rIns="0" bIns="0" rtlCol="0" anchor="ctr"/>
          <a:lstStyle/>
          <a:p>
            <a:pPr marL="0" indent="0" algn="ctr">
              <a:buNone/>
            </a:pPr>
            <a:r>
              <a:rPr lang="en-US" sz="1300" b="1" dirty="0">
                <a:solidFill>
                  <a:srgbClr val="102A43"/>
                </a:solidFill>
              </a:rPr>
              <a:t>Database / connection</a:t>
            </a:r>
            <a:endParaRPr lang="en-US" sz="1300" dirty="0"/>
          </a:p>
        </p:txBody>
      </p:sp>
      <p:sp>
        <p:nvSpPr>
          <p:cNvPr id="8" name="Text 3"/>
          <p:cNvSpPr/>
          <p:nvPr/>
        </p:nvSpPr>
        <p:spPr>
          <a:xfrm>
            <a:off x="4251960" y="5504688"/>
            <a:ext cx="3520440" cy="274320"/>
          </a:xfrm>
          <a:prstGeom prst="rect">
            <a:avLst/>
          </a:prstGeom>
          <a:noFill/>
          <a:ln/>
        </p:spPr>
        <p:txBody>
          <a:bodyPr wrap="square" lIns="0" tIns="0" rIns="0" bIns="0" rtlCol="0" anchor="ctr"/>
          <a:lstStyle/>
          <a:p>
            <a:pPr marL="0" indent="0" algn="ctr">
              <a:buNone/>
            </a:pPr>
            <a:r>
              <a:rPr lang="en-US" sz="1300" b="1" dirty="0">
                <a:solidFill>
                  <a:srgbClr val="102A43"/>
                </a:solidFill>
              </a:rPr>
              <a:t>Enrollment endpoint</a:t>
            </a:r>
            <a:endParaRPr lang="en-US" sz="1300" dirty="0"/>
          </a:p>
        </p:txBody>
      </p:sp>
      <p:sp>
        <p:nvSpPr>
          <p:cNvPr id="9" name="Text 4"/>
          <p:cNvSpPr/>
          <p:nvPr/>
        </p:nvSpPr>
        <p:spPr>
          <a:xfrm>
            <a:off x="7955280" y="5504688"/>
            <a:ext cx="3611880" cy="274320"/>
          </a:xfrm>
          <a:prstGeom prst="rect">
            <a:avLst/>
          </a:prstGeom>
          <a:noFill/>
          <a:ln/>
        </p:spPr>
        <p:txBody>
          <a:bodyPr wrap="square" lIns="0" tIns="0" rIns="0" bIns="0" rtlCol="0" anchor="ctr"/>
          <a:lstStyle/>
          <a:p>
            <a:pPr marL="0" indent="0" algn="ctr">
              <a:buNone/>
            </a:pPr>
            <a:r>
              <a:rPr lang="en-US" sz="1300" b="1" dirty="0">
                <a:solidFill>
                  <a:srgbClr val="102A43"/>
                </a:solidFill>
              </a:rPr>
              <a:t>Course listing / join query</a:t>
            </a:r>
            <a:endParaRPr lang="en-US" sz="1300" dirty="0"/>
          </a:p>
        </p:txBody>
      </p:sp>
      <p:sp>
        <p:nvSpPr>
          <p:cNvPr id="10" name="Text 5"/>
          <p:cNvSpPr/>
          <p:nvPr/>
        </p:nvSpPr>
        <p:spPr>
          <a:xfrm>
            <a:off x="731520" y="5897880"/>
            <a:ext cx="10789920" cy="320040"/>
          </a:xfrm>
          <a:prstGeom prst="rect">
            <a:avLst/>
          </a:prstGeom>
          <a:noFill/>
          <a:ln/>
        </p:spPr>
        <p:txBody>
          <a:bodyPr wrap="square" lIns="0" tIns="0" rIns="0" bIns="0" rtlCol="0" anchor="ctr"/>
          <a:lstStyle/>
          <a:p>
            <a:pPr marL="0" indent="0" algn="ctr">
              <a:buNone/>
            </a:pPr>
            <a:r>
              <a:rPr lang="en-US" sz="1130" dirty="0">
                <a:solidFill>
                  <a:srgbClr val="243B53"/>
                </a:solidFill>
              </a:rPr>
              <a:t>Secure coding themes: prepared statements • server-side validation • password hashing • authenticated sessions • transaction-aware enrollment processing</a:t>
            </a:r>
            <a:endParaRPr lang="en-US" sz="113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chemeClr val="accent1">
                    <a:lumMod val="49000"/>
                  </a:schemeClr>
                </a:solidFill>
                <a:latin typeface="Calibri"/>
                <a:ea typeface="Calibri"/>
                <a:cs typeface="Calibri"/>
              </a:rPr>
              <a:t>TESTING</a:t>
            </a:r>
            <a:endParaRPr lang="en-US" sz="1200" dirty="0">
              <a:solidFill>
                <a:schemeClr val="accent1">
                  <a:lumMod val="49000"/>
                </a:schemeClr>
              </a:solidFill>
              <a:latin typeface="Calibri"/>
              <a:ea typeface="Calibri"/>
              <a:cs typeface="Calibri"/>
            </a:endParaRPr>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r>
              <a:rPr lang="en-US" sz="3000" b="1" dirty="0">
                <a:solidFill>
                  <a:srgbClr val="0F1B3D"/>
                </a:solidFill>
                <a:latin typeface="Cambria"/>
                <a:ea typeface="Cambria"/>
                <a:cs typeface="Cambria" pitchFamily="34" charset="-120"/>
              </a:rPr>
              <a:t>9. Verifying Functionality Against the Database</a:t>
            </a:r>
            <a:endParaRPr lang="en-US" sz="3000" dirty="0">
              <a:latin typeface="Cambria"/>
              <a:ea typeface="Cambria"/>
            </a:endParaRPr>
          </a:p>
        </p:txBody>
      </p:sp>
      <p:sp>
        <p:nvSpPr>
          <p:cNvPr id="4" name="Text 2"/>
          <p:cNvSpPr txBox="1"/>
          <p:nvPr/>
        </p:nvSpPr>
        <p:spPr>
          <a:xfrm>
            <a:off x="548640" y="1737360"/>
            <a:ext cx="4206240" cy="457200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1A2238"/>
                </a:solidFill>
                <a:latin typeface="Calibri"/>
                <a:ea typeface="Calibri"/>
                <a:cs typeface="Calibri"/>
              </a:rPr>
              <a:t>Every feature was tested directly, not just observed on the page — a query was run before and after each action.</a:t>
            </a:r>
            <a:endParaRPr lang="en-US" sz="1500" dirty="0">
              <a:latin typeface="Calibri"/>
              <a:ea typeface="Calibri"/>
              <a:cs typeface="Calibri"/>
            </a:endParaRPr>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Register: enrollments starts empty for the test student, then shows one new row after clicking Enroll.</a:t>
            </a:r>
            <a:endParaRPr lang="en-US" sz="1500" dirty="0"/>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Add another course: a second row appears for a different course_id without disturbing the first.</a:t>
            </a:r>
            <a:endParaRPr lang="en-US" sz="1500" dirty="0"/>
          </a:p>
          <a:p>
            <a:pPr marL="228600" indent="-228600">
              <a:spcAft>
                <a:spcPts val="1200"/>
              </a:spcAft>
              <a:buSzPct val="100000"/>
              <a:buChar char="▪"/>
            </a:pPr>
            <a:r>
              <a:rPr lang="en-US" sz="1500" dirty="0">
                <a:solidFill>
                  <a:srgbClr val="1A2238"/>
                </a:solidFill>
                <a:latin typeface="Calibri" pitchFamily="34" charset="0"/>
                <a:ea typeface="Calibri" pitchFamily="34" charset="-122"/>
                <a:cs typeface="Calibri" pitchFamily="34" charset="-120"/>
              </a:rPr>
              <a:t>Drop: the matching row disappears entirely, confirmed with a follow-up SELECT.</a:t>
            </a:r>
            <a:endParaRPr lang="en-US" sz="1500" dirty="0"/>
          </a:p>
        </p:txBody>
      </p:sp>
      <p:sp>
        <p:nvSpPr>
          <p:cNvPr id="5" name="Shape 3"/>
          <p:cNvSpPr/>
          <p:nvPr/>
        </p:nvSpPr>
        <p:spPr>
          <a:xfrm>
            <a:off x="5202936" y="1499616"/>
            <a:ext cx="6327648" cy="2086372"/>
          </a:xfrm>
          <a:prstGeom prst="rect">
            <a:avLst/>
          </a:prstGeom>
          <a:solidFill>
            <a:srgbClr val="FFFFFF"/>
          </a:solidFill>
          <a:ln w="12700">
            <a:solidFill>
              <a:srgbClr val="D9DEEA"/>
            </a:solidFill>
            <a:prstDash val="solid"/>
          </a:ln>
          <a:effectLst>
            <a:outerShdw blurRad="101600" dist="38100" dir="5400000" algn="bl" rotWithShape="0">
              <a:srgbClr val="3A3A55">
                <a:alpha val="35000"/>
              </a:srgbClr>
            </a:outerShdw>
          </a:effectLst>
        </p:spPr>
      </p:sp>
      <p:pic>
        <p:nvPicPr>
          <p:cNvPr id="6" name="Image 0"/>
          <p:cNvPicPr>
            <a:picLocks noChangeAspect="1"/>
          </p:cNvPicPr>
          <p:nvPr/>
        </p:nvPicPr>
        <p:blipFill>
          <a:blip r:embed="rId3"/>
          <a:stretch>
            <a:fillRect/>
          </a:stretch>
        </p:blipFill>
        <p:spPr>
          <a:xfrm>
            <a:off x="5257800" y="1720564"/>
            <a:ext cx="6217920" cy="1644476"/>
          </a:xfrm>
          <a:prstGeom prst="rect">
            <a:avLst/>
          </a:prstGeom>
        </p:spPr>
      </p:pic>
      <p:sp>
        <p:nvSpPr>
          <p:cNvPr id="7" name="Shape 4"/>
          <p:cNvSpPr/>
          <p:nvPr/>
        </p:nvSpPr>
        <p:spPr>
          <a:xfrm>
            <a:off x="5202936" y="3613420"/>
            <a:ext cx="6327648" cy="2335089"/>
          </a:xfrm>
          <a:prstGeom prst="rect">
            <a:avLst/>
          </a:prstGeom>
          <a:solidFill>
            <a:srgbClr val="FFFFFF"/>
          </a:solidFill>
          <a:ln w="12700">
            <a:solidFill>
              <a:srgbClr val="D9DEEA"/>
            </a:solidFill>
            <a:prstDash val="solid"/>
          </a:ln>
          <a:effectLst>
            <a:outerShdw blurRad="101600" dist="38100" dir="5400000" algn="bl" rotWithShape="0">
              <a:srgbClr val="3A3A55">
                <a:alpha val="35000"/>
              </a:srgbClr>
            </a:outerShdw>
          </a:effectLst>
        </p:spPr>
      </p:sp>
      <p:pic>
        <p:nvPicPr>
          <p:cNvPr id="8" name="Image 1"/>
          <p:cNvPicPr>
            <a:picLocks noChangeAspect="1"/>
          </p:cNvPicPr>
          <p:nvPr/>
        </p:nvPicPr>
        <p:blipFill>
          <a:blip r:embed="rId4"/>
          <a:stretch>
            <a:fillRect/>
          </a:stretch>
        </p:blipFill>
        <p:spPr>
          <a:xfrm>
            <a:off x="5257800" y="4268273"/>
            <a:ext cx="6217920" cy="1025382"/>
          </a:xfrm>
          <a:prstGeom prst="rect">
            <a:avLst/>
          </a:prstGeom>
        </p:spPr>
      </p:pic>
      <p:sp>
        <p:nvSpPr>
          <p:cNvPr id="11" name="Text 7"/>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1000" dirty="0">
                <a:solidFill>
                  <a:srgbClr val="5B6B8C"/>
                </a:solidFill>
                <a:latin typeface="Calibri"/>
                <a:ea typeface="Calibri"/>
                <a:cs typeface="Calibri"/>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10. Project Summary and Lessons Learned</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How the final pieces fit together</a:t>
            </a:r>
            <a:endParaRPr lang="en-US" sz="1100" dirty="0"/>
          </a:p>
        </p:txBody>
      </p:sp>
      <p:sp>
        <p:nvSpPr>
          <p:cNvPr id="4" name="Shape 2"/>
          <p:cNvSpPr/>
          <p:nvPr/>
        </p:nvSpPr>
        <p:spPr>
          <a:xfrm>
            <a:off x="594360" y="1645920"/>
            <a:ext cx="2240280" cy="3154680"/>
          </a:xfrm>
          <a:prstGeom prst="roundRect">
            <a:avLst>
              <a:gd name="adj" fmla="val 2449"/>
            </a:avLst>
          </a:prstGeom>
          <a:solidFill>
            <a:srgbClr val="EAF2F8"/>
          </a:solidFill>
          <a:ln w="12700">
            <a:solidFill>
              <a:srgbClr val="BCCCDC"/>
            </a:solidFill>
            <a:prstDash val="solid"/>
          </a:ln>
        </p:spPr>
      </p:sp>
      <p:sp>
        <p:nvSpPr>
          <p:cNvPr id="5" name="Text 3"/>
          <p:cNvSpPr/>
          <p:nvPr/>
        </p:nvSpPr>
        <p:spPr>
          <a:xfrm>
            <a:off x="731520" y="1874520"/>
            <a:ext cx="1965960" cy="274320"/>
          </a:xfrm>
          <a:prstGeom prst="rect">
            <a:avLst/>
          </a:prstGeom>
          <a:noFill/>
          <a:ln/>
        </p:spPr>
        <p:txBody>
          <a:bodyPr wrap="square" lIns="0" tIns="0" rIns="0" bIns="0" rtlCol="0" anchor="ctr"/>
          <a:lstStyle/>
          <a:p>
            <a:pPr marL="0" indent="0" algn="ctr">
              <a:buNone/>
            </a:pPr>
            <a:r>
              <a:rPr lang="en-US" sz="1600" b="1" dirty="0">
                <a:solidFill>
                  <a:srgbClr val="102A43"/>
                </a:solidFill>
              </a:rPr>
              <a:t>Requirements</a:t>
            </a:r>
            <a:endParaRPr lang="en-US" sz="1600" dirty="0"/>
          </a:p>
        </p:txBody>
      </p:sp>
      <p:sp>
        <p:nvSpPr>
          <p:cNvPr id="6" name="Text 4"/>
          <p:cNvSpPr/>
          <p:nvPr/>
        </p:nvSpPr>
        <p:spPr>
          <a:xfrm>
            <a:off x="758952" y="2359152"/>
            <a:ext cx="1920240" cy="1920240"/>
          </a:xfrm>
          <a:prstGeom prst="rect">
            <a:avLst/>
          </a:prstGeom>
          <a:noFill/>
          <a:ln/>
        </p:spPr>
        <p:txBody>
          <a:bodyPr wrap="square" lIns="0" tIns="0" rIns="0" bIns="0" rtlCol="0" anchor="ctr"/>
          <a:lstStyle/>
          <a:p>
            <a:pPr marL="0" indent="0" algn="ctr">
              <a:buNone/>
            </a:pPr>
            <a:r>
              <a:rPr lang="en-US" sz="1250" dirty="0">
                <a:solidFill>
                  <a:srgbClr val="243B53"/>
                </a:solidFill>
              </a:rPr>
              <a:t>SRS requirements</a:t>
            </a:r>
            <a:endParaRPr lang="en-US" sz="1250" dirty="0"/>
          </a:p>
          <a:p>
            <a:pPr marL="0" indent="0" algn="ctr">
              <a:buNone/>
            </a:pPr>
            <a:r>
              <a:rPr lang="en-US" sz="1250" dirty="0">
                <a:solidFill>
                  <a:srgbClr val="243B53"/>
                </a:solidFill>
              </a:rPr>
              <a:t>Unique account IDs</a:t>
            </a:r>
            <a:endParaRPr lang="en-US" sz="1250" dirty="0"/>
          </a:p>
          <a:p>
            <a:pPr marL="0" indent="0" algn="ctr">
              <a:buNone/>
            </a:pPr>
            <a:r>
              <a:rPr lang="en-US" sz="1250" dirty="0">
                <a:solidFill>
                  <a:srgbClr val="243B53"/>
                </a:solidFill>
              </a:rPr>
              <a:t>Course capacity</a:t>
            </a:r>
            <a:endParaRPr lang="en-US" sz="1250" dirty="0"/>
          </a:p>
          <a:p>
            <a:pPr marL="0" indent="0" algn="ctr">
              <a:buNone/>
            </a:pPr>
            <a:r>
              <a:rPr lang="en-US" sz="1250" dirty="0">
                <a:solidFill>
                  <a:srgbClr val="243B53"/>
                </a:solidFill>
              </a:rPr>
              <a:t>Waitlist and cancellation</a:t>
            </a:r>
            <a:endParaRPr lang="en-US" sz="1250" dirty="0"/>
          </a:p>
        </p:txBody>
      </p:sp>
      <p:sp>
        <p:nvSpPr>
          <p:cNvPr id="7" name="Shape 5"/>
          <p:cNvSpPr/>
          <p:nvPr/>
        </p:nvSpPr>
        <p:spPr>
          <a:xfrm>
            <a:off x="3520440" y="1645920"/>
            <a:ext cx="2240280" cy="3154680"/>
          </a:xfrm>
          <a:prstGeom prst="roundRect">
            <a:avLst>
              <a:gd name="adj" fmla="val 2449"/>
            </a:avLst>
          </a:prstGeom>
          <a:solidFill>
            <a:srgbClr val="EEF2F7"/>
          </a:solidFill>
          <a:ln w="12700">
            <a:solidFill>
              <a:srgbClr val="BCCCDC"/>
            </a:solidFill>
            <a:prstDash val="solid"/>
          </a:ln>
        </p:spPr>
      </p:sp>
      <p:sp>
        <p:nvSpPr>
          <p:cNvPr id="8" name="Text 6"/>
          <p:cNvSpPr/>
          <p:nvPr/>
        </p:nvSpPr>
        <p:spPr>
          <a:xfrm>
            <a:off x="3657600" y="1874520"/>
            <a:ext cx="1965960" cy="274320"/>
          </a:xfrm>
          <a:prstGeom prst="rect">
            <a:avLst/>
          </a:prstGeom>
          <a:noFill/>
          <a:ln/>
        </p:spPr>
        <p:txBody>
          <a:bodyPr wrap="square" lIns="0" tIns="0" rIns="0" bIns="0" rtlCol="0" anchor="ctr"/>
          <a:lstStyle/>
          <a:p>
            <a:pPr marL="0" indent="0" algn="ctr">
              <a:buNone/>
            </a:pPr>
            <a:r>
              <a:rPr lang="en-US" sz="1600" b="1" dirty="0">
                <a:solidFill>
                  <a:srgbClr val="102A43"/>
                </a:solidFill>
              </a:rPr>
              <a:t>Design</a:t>
            </a:r>
            <a:endParaRPr lang="en-US" sz="1600" dirty="0"/>
          </a:p>
        </p:txBody>
      </p:sp>
      <p:sp>
        <p:nvSpPr>
          <p:cNvPr id="9" name="Text 7"/>
          <p:cNvSpPr/>
          <p:nvPr/>
        </p:nvSpPr>
        <p:spPr>
          <a:xfrm>
            <a:off x="3685032" y="2359152"/>
            <a:ext cx="1920240" cy="1920240"/>
          </a:xfrm>
          <a:prstGeom prst="rect">
            <a:avLst/>
          </a:prstGeom>
          <a:noFill/>
          <a:ln/>
        </p:spPr>
        <p:txBody>
          <a:bodyPr wrap="square" lIns="0" tIns="0" rIns="0" bIns="0" rtlCol="0" anchor="ctr"/>
          <a:lstStyle/>
          <a:p>
            <a:pPr marL="0" indent="0" algn="ctr">
              <a:buNone/>
            </a:pPr>
            <a:r>
              <a:rPr lang="en-US" sz="1250" dirty="0">
                <a:solidFill>
                  <a:srgbClr val="243B53"/>
                </a:solidFill>
              </a:rPr>
              <a:t>Five UML models</a:t>
            </a:r>
            <a:endParaRPr lang="en-US" sz="1250" dirty="0"/>
          </a:p>
          <a:p>
            <a:pPr marL="0" indent="0" algn="ctr">
              <a:buNone/>
            </a:pPr>
            <a:r>
              <a:rPr lang="en-US" sz="1250" dirty="0">
                <a:solidFill>
                  <a:srgbClr val="243B53"/>
                </a:solidFill>
              </a:rPr>
              <a:t>Static and dynamic views</a:t>
            </a:r>
            <a:endParaRPr lang="en-US" sz="1250" dirty="0"/>
          </a:p>
          <a:p>
            <a:pPr marL="0" indent="0" algn="ctr">
              <a:buNone/>
            </a:pPr>
            <a:r>
              <a:rPr lang="en-US" sz="1250" dirty="0">
                <a:solidFill>
                  <a:srgbClr val="243B53"/>
                </a:solidFill>
              </a:rPr>
              <a:t>Traceability to SRS</a:t>
            </a:r>
            <a:endParaRPr lang="en-US" sz="1250" dirty="0"/>
          </a:p>
        </p:txBody>
      </p:sp>
      <p:sp>
        <p:nvSpPr>
          <p:cNvPr id="10" name="Shape 8"/>
          <p:cNvSpPr/>
          <p:nvPr/>
        </p:nvSpPr>
        <p:spPr>
          <a:xfrm>
            <a:off x="6446520" y="1645920"/>
            <a:ext cx="2240280" cy="3154680"/>
          </a:xfrm>
          <a:prstGeom prst="roundRect">
            <a:avLst>
              <a:gd name="adj" fmla="val 2449"/>
            </a:avLst>
          </a:prstGeom>
          <a:solidFill>
            <a:srgbClr val="EAF2F8"/>
          </a:solidFill>
          <a:ln w="12700">
            <a:solidFill>
              <a:srgbClr val="BCCCDC"/>
            </a:solidFill>
            <a:prstDash val="solid"/>
          </a:ln>
        </p:spPr>
      </p:sp>
      <p:sp>
        <p:nvSpPr>
          <p:cNvPr id="11" name="Text 9"/>
          <p:cNvSpPr/>
          <p:nvPr/>
        </p:nvSpPr>
        <p:spPr>
          <a:xfrm>
            <a:off x="6583680" y="1874520"/>
            <a:ext cx="1965960" cy="274320"/>
          </a:xfrm>
          <a:prstGeom prst="rect">
            <a:avLst/>
          </a:prstGeom>
          <a:noFill/>
          <a:ln/>
        </p:spPr>
        <p:txBody>
          <a:bodyPr wrap="square" lIns="0" tIns="0" rIns="0" bIns="0" rtlCol="0" anchor="ctr"/>
          <a:lstStyle/>
          <a:p>
            <a:pPr marL="0" indent="0" algn="ctr">
              <a:buNone/>
            </a:pPr>
            <a:r>
              <a:rPr lang="en-US" sz="1600" b="1" dirty="0">
                <a:solidFill>
                  <a:srgbClr val="102A43"/>
                </a:solidFill>
              </a:rPr>
              <a:t>Implementation</a:t>
            </a:r>
            <a:endParaRPr lang="en-US" sz="1600" dirty="0"/>
          </a:p>
        </p:txBody>
      </p:sp>
      <p:sp>
        <p:nvSpPr>
          <p:cNvPr id="12" name="Text 10"/>
          <p:cNvSpPr/>
          <p:nvPr/>
        </p:nvSpPr>
        <p:spPr>
          <a:xfrm>
            <a:off x="6611112" y="2359152"/>
            <a:ext cx="1920240" cy="1920240"/>
          </a:xfrm>
          <a:prstGeom prst="rect">
            <a:avLst/>
          </a:prstGeom>
          <a:noFill/>
          <a:ln/>
        </p:spPr>
        <p:txBody>
          <a:bodyPr wrap="square" lIns="0" tIns="0" rIns="0" bIns="0" rtlCol="0" anchor="ctr"/>
          <a:lstStyle/>
          <a:p>
            <a:pPr marL="0" indent="0" algn="ctr">
              <a:buNone/>
            </a:pPr>
            <a:r>
              <a:rPr lang="en-US" sz="1250" dirty="0">
                <a:solidFill>
                  <a:srgbClr val="243B53"/>
                </a:solidFill>
              </a:rPr>
              <a:t>Landing, login, registration</a:t>
            </a:r>
            <a:endParaRPr lang="en-US" sz="1250" dirty="0"/>
          </a:p>
          <a:p>
            <a:pPr marL="0" indent="0" algn="ctr">
              <a:buNone/>
            </a:pPr>
            <a:r>
              <a:rPr lang="en-US" sz="1250" dirty="0">
                <a:solidFill>
                  <a:srgbClr val="243B53"/>
                </a:solidFill>
              </a:rPr>
              <a:t>MySQL data model</a:t>
            </a:r>
            <a:endParaRPr lang="en-US" sz="1250" dirty="0"/>
          </a:p>
          <a:p>
            <a:pPr marL="0" indent="0" algn="ctr">
              <a:buNone/>
            </a:pPr>
            <a:r>
              <a:rPr lang="en-US" sz="1250" dirty="0">
                <a:solidFill>
                  <a:srgbClr val="243B53"/>
                </a:solidFill>
              </a:rPr>
              <a:t>PHP enrollment workflow</a:t>
            </a:r>
            <a:endParaRPr lang="en-US" sz="1250" dirty="0"/>
          </a:p>
        </p:txBody>
      </p:sp>
      <p:sp>
        <p:nvSpPr>
          <p:cNvPr id="13" name="Shape 11"/>
          <p:cNvSpPr/>
          <p:nvPr/>
        </p:nvSpPr>
        <p:spPr>
          <a:xfrm>
            <a:off x="9372600" y="1645920"/>
            <a:ext cx="2240280" cy="3154680"/>
          </a:xfrm>
          <a:prstGeom prst="roundRect">
            <a:avLst>
              <a:gd name="adj" fmla="val 2449"/>
            </a:avLst>
          </a:prstGeom>
          <a:solidFill>
            <a:srgbClr val="EEF2F7"/>
          </a:solidFill>
          <a:ln w="12700">
            <a:solidFill>
              <a:srgbClr val="BCCCDC"/>
            </a:solidFill>
            <a:prstDash val="solid"/>
          </a:ln>
        </p:spPr>
      </p:sp>
      <p:sp>
        <p:nvSpPr>
          <p:cNvPr id="14" name="Text 12"/>
          <p:cNvSpPr/>
          <p:nvPr/>
        </p:nvSpPr>
        <p:spPr>
          <a:xfrm>
            <a:off x="9509760" y="1874520"/>
            <a:ext cx="1965960" cy="274320"/>
          </a:xfrm>
          <a:prstGeom prst="rect">
            <a:avLst/>
          </a:prstGeom>
          <a:noFill/>
          <a:ln/>
        </p:spPr>
        <p:txBody>
          <a:bodyPr wrap="square" lIns="0" tIns="0" rIns="0" bIns="0" rtlCol="0" anchor="ctr"/>
          <a:lstStyle/>
          <a:p>
            <a:pPr marL="0" indent="0" algn="ctr">
              <a:buNone/>
            </a:pPr>
            <a:r>
              <a:rPr lang="en-US" sz="1600" b="1" dirty="0">
                <a:solidFill>
                  <a:srgbClr val="102A43"/>
                </a:solidFill>
              </a:rPr>
              <a:t>Verification</a:t>
            </a:r>
            <a:endParaRPr lang="en-US" sz="1600" dirty="0"/>
          </a:p>
        </p:txBody>
      </p:sp>
      <p:sp>
        <p:nvSpPr>
          <p:cNvPr id="15" name="Text 13"/>
          <p:cNvSpPr/>
          <p:nvPr/>
        </p:nvSpPr>
        <p:spPr>
          <a:xfrm>
            <a:off x="9537192" y="2359152"/>
            <a:ext cx="1920240" cy="1920240"/>
          </a:xfrm>
          <a:prstGeom prst="rect">
            <a:avLst/>
          </a:prstGeom>
          <a:noFill/>
          <a:ln/>
        </p:spPr>
        <p:txBody>
          <a:bodyPr wrap="square" lIns="0" tIns="0" rIns="0" bIns="0" rtlCol="0" anchor="ctr"/>
          <a:lstStyle/>
          <a:p>
            <a:pPr marL="0" indent="0" algn="ctr">
              <a:buNone/>
            </a:pPr>
            <a:r>
              <a:rPr lang="en-US" sz="1250" dirty="0">
                <a:solidFill>
                  <a:srgbClr val="243B53"/>
                </a:solidFill>
              </a:rPr>
              <a:t>Database before/after checks</a:t>
            </a:r>
            <a:endParaRPr lang="en-US" sz="1250" dirty="0"/>
          </a:p>
          <a:p>
            <a:pPr marL="0" indent="0" algn="ctr">
              <a:buNone/>
            </a:pPr>
            <a:r>
              <a:rPr lang="en-US" sz="1250" dirty="0">
                <a:solidFill>
                  <a:srgbClr val="243B53"/>
                </a:solidFill>
              </a:rPr>
              <a:t>Schedule state changes</a:t>
            </a:r>
            <a:endParaRPr lang="en-US" sz="1250" dirty="0"/>
          </a:p>
          <a:p>
            <a:pPr marL="0" indent="0" algn="ctr">
              <a:buNone/>
            </a:pPr>
            <a:r>
              <a:rPr lang="en-US" sz="1250" dirty="0">
                <a:solidFill>
                  <a:srgbClr val="243B53"/>
                </a:solidFill>
              </a:rPr>
              <a:t>Feedback incorporated</a:t>
            </a:r>
            <a:endParaRPr lang="en-US" sz="1250" dirty="0"/>
          </a:p>
        </p:txBody>
      </p:sp>
      <p:sp>
        <p:nvSpPr>
          <p:cNvPr id="16" name="Text 14"/>
          <p:cNvSpPr/>
          <p:nvPr/>
        </p:nvSpPr>
        <p:spPr>
          <a:xfrm>
            <a:off x="1524000" y="5179568"/>
            <a:ext cx="1828800" cy="274320"/>
          </a:xfrm>
          <a:prstGeom prst="rect">
            <a:avLst/>
          </a:prstGeom>
          <a:noFill/>
          <a:ln/>
        </p:spPr>
        <p:txBody>
          <a:bodyPr wrap="square" lIns="0" tIns="0" rIns="0" bIns="0" rtlCol="0" anchor="ctr"/>
          <a:lstStyle/>
          <a:p>
            <a:pPr marL="0" indent="0">
              <a:buNone/>
            </a:pPr>
            <a:r>
              <a:rPr lang="en-US" sz="1500" b="1">
                <a:solidFill>
                  <a:srgbClr val="102A43"/>
                </a:solidFill>
              </a:rPr>
              <a:t>Key Takeaway</a:t>
            </a:r>
            <a:endParaRPr lang="en-US" sz="1500" dirty="0"/>
          </a:p>
        </p:txBody>
      </p:sp>
      <p:sp>
        <p:nvSpPr>
          <p:cNvPr id="17" name="Text 15"/>
          <p:cNvSpPr/>
          <p:nvPr/>
        </p:nvSpPr>
        <p:spPr>
          <a:xfrm>
            <a:off x="2423160" y="5166360"/>
            <a:ext cx="8686800" cy="457200"/>
          </a:xfrm>
          <a:prstGeom prst="rect">
            <a:avLst/>
          </a:prstGeom>
          <a:noFill/>
          <a:ln/>
        </p:spPr>
        <p:txBody>
          <a:bodyPr wrap="square" lIns="0" tIns="0" rIns="0" bIns="0" rtlCol="0" anchor="ctr"/>
          <a:lstStyle/>
          <a:p>
            <a:pPr algn="ctr"/>
            <a:r>
              <a:rPr lang="en-US" sz="1500" dirty="0">
                <a:solidFill>
                  <a:srgbClr val="243B53"/>
                </a:solidFill>
              </a:rPr>
              <a:t>The capstone demonstrates the progression from </a:t>
            </a:r>
            <a:endParaRPr lang="en-US" sz="1500" dirty="0">
              <a:solidFill>
                <a:srgbClr val="000000"/>
              </a:solidFill>
            </a:endParaRPr>
          </a:p>
          <a:p>
            <a:pPr marL="0" indent="0" algn="ctr">
              <a:buNone/>
            </a:pPr>
            <a:r>
              <a:rPr lang="en-US" sz="1500" dirty="0">
                <a:solidFill>
                  <a:srgbClr val="243B53"/>
                </a:solidFill>
              </a:rPr>
              <a:t>Requirements → UML design → PHP/MySQL implementation → Verified class registration.</a:t>
            </a:r>
            <a:endParaRPr lang="en-US" sz="150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713232"/>
            <a:ext cx="11109960" cy="411480"/>
          </a:xfrm>
          <a:prstGeom prst="rect">
            <a:avLst/>
          </a:prstGeom>
          <a:noFill/>
          <a:ln/>
        </p:spPr>
        <p:txBody>
          <a:bodyPr wrap="square" lIns="0" tIns="0" rIns="0" bIns="0" rtlCol="0" anchor="ctr"/>
          <a:lstStyle/>
          <a:p>
            <a:pPr marL="0" indent="0">
              <a:buNone/>
            </a:pPr>
            <a:r>
              <a:rPr lang="en-US" sz="2600" b="1" dirty="0">
                <a:solidFill>
                  <a:srgbClr val="102A43"/>
                </a:solidFill>
              </a:rPr>
              <a:t>References</a:t>
            </a:r>
            <a:endParaRPr lang="en-US" sz="2600" dirty="0"/>
          </a:p>
        </p:txBody>
      </p:sp>
      <p:sp>
        <p:nvSpPr>
          <p:cNvPr id="3" name="Text 1"/>
          <p:cNvSpPr/>
          <p:nvPr/>
        </p:nvSpPr>
        <p:spPr>
          <a:xfrm>
            <a:off x="530352" y="1143000"/>
            <a:ext cx="10881360" cy="256032"/>
          </a:xfrm>
          <a:prstGeom prst="rect">
            <a:avLst/>
          </a:prstGeom>
          <a:noFill/>
          <a:ln/>
        </p:spPr>
        <p:txBody>
          <a:bodyPr wrap="square" lIns="0" tIns="0" rIns="0" bIns="0" rtlCol="0" anchor="ctr"/>
          <a:lstStyle/>
          <a:p>
            <a:pPr marL="0" indent="0">
              <a:buNone/>
            </a:pPr>
            <a:r>
              <a:rPr lang="en-US" sz="1100" dirty="0">
                <a:solidFill>
                  <a:srgbClr val="486581"/>
                </a:solidFill>
              </a:rPr>
              <a:t>Selected sources used for the project and presentation</a:t>
            </a:r>
            <a:endParaRPr lang="en-US" sz="1100" dirty="0"/>
          </a:p>
        </p:txBody>
      </p:sp>
      <p:sp>
        <p:nvSpPr>
          <p:cNvPr id="4" name="Text 2"/>
          <p:cNvSpPr/>
          <p:nvPr/>
        </p:nvSpPr>
        <p:spPr>
          <a:xfrm>
            <a:off x="914400" y="1600200"/>
            <a:ext cx="10149840" cy="530352"/>
          </a:xfrm>
          <a:prstGeom prst="rect">
            <a:avLst/>
          </a:prstGeom>
          <a:noFill/>
          <a:ln/>
        </p:spPr>
        <p:txBody>
          <a:bodyPr wrap="square" lIns="0" tIns="0" rIns="0" bIns="0" rtlCol="0" anchor="ctr"/>
          <a:lstStyle/>
          <a:p>
            <a:pPr marL="0" indent="0">
              <a:buNone/>
            </a:pPr>
            <a:r>
              <a:rPr lang="en-US" sz="1250" dirty="0">
                <a:solidFill>
                  <a:srgbClr val="243B53"/>
                </a:solidFill>
              </a:rPr>
              <a:t>Booch, G., Rumbaugh, J., &amp; Jacobson, I. (2007). The unified modeling language user guide (2nd ed.). Addison-Wesley.</a:t>
            </a:r>
            <a:endParaRPr lang="en-US" sz="1250" dirty="0"/>
          </a:p>
        </p:txBody>
      </p:sp>
      <p:sp>
        <p:nvSpPr>
          <p:cNvPr id="5" name="Text 3"/>
          <p:cNvSpPr/>
          <p:nvPr/>
        </p:nvSpPr>
        <p:spPr>
          <a:xfrm>
            <a:off x="914400" y="2359152"/>
            <a:ext cx="10149840" cy="530352"/>
          </a:xfrm>
          <a:prstGeom prst="rect">
            <a:avLst/>
          </a:prstGeom>
          <a:noFill/>
          <a:ln/>
        </p:spPr>
        <p:txBody>
          <a:bodyPr wrap="square" lIns="0" tIns="0" rIns="0" bIns="0" rtlCol="0" anchor="ctr"/>
          <a:lstStyle/>
          <a:p>
            <a:pPr marL="0" indent="0">
              <a:buNone/>
            </a:pPr>
            <a:r>
              <a:rPr lang="en-US" sz="1250" dirty="0">
                <a:solidFill>
                  <a:srgbClr val="243B53"/>
                </a:solidFill>
              </a:rPr>
              <a:t>Pressman, R. S., &amp; Maxim, B. R. (2020). Software engineering: A practitioner’s approach (9th ed.). McGraw-Hill Education.</a:t>
            </a:r>
            <a:endParaRPr lang="en-US" sz="1250" dirty="0"/>
          </a:p>
        </p:txBody>
      </p:sp>
      <p:sp>
        <p:nvSpPr>
          <p:cNvPr id="6" name="Text 4"/>
          <p:cNvSpPr/>
          <p:nvPr/>
        </p:nvSpPr>
        <p:spPr>
          <a:xfrm>
            <a:off x="914400" y="3118104"/>
            <a:ext cx="10149840" cy="530352"/>
          </a:xfrm>
          <a:prstGeom prst="rect">
            <a:avLst/>
          </a:prstGeom>
          <a:noFill/>
          <a:ln/>
        </p:spPr>
        <p:txBody>
          <a:bodyPr wrap="square" lIns="0" tIns="0" rIns="0" bIns="0" rtlCol="0" anchor="ctr"/>
          <a:lstStyle/>
          <a:p>
            <a:pPr marL="0" indent="0">
              <a:buNone/>
            </a:pPr>
            <a:r>
              <a:rPr lang="en-US" sz="1250" dirty="0">
                <a:solidFill>
                  <a:srgbClr val="243B53"/>
                </a:solidFill>
              </a:rPr>
              <a:t>Sommerville, I. (2021). Software engineering (10th ed.). Pearson.</a:t>
            </a:r>
            <a:endParaRPr lang="en-US" sz="1250" dirty="0"/>
          </a:p>
        </p:txBody>
      </p:sp>
      <p:sp>
        <p:nvSpPr>
          <p:cNvPr id="7" name="Text 5"/>
          <p:cNvSpPr/>
          <p:nvPr/>
        </p:nvSpPr>
        <p:spPr>
          <a:xfrm>
            <a:off x="914400" y="3877056"/>
            <a:ext cx="10149840" cy="530352"/>
          </a:xfrm>
          <a:prstGeom prst="rect">
            <a:avLst/>
          </a:prstGeom>
          <a:noFill/>
          <a:ln/>
        </p:spPr>
        <p:txBody>
          <a:bodyPr wrap="square" lIns="0" tIns="0" rIns="0" bIns="0" rtlCol="0" anchor="ctr"/>
          <a:lstStyle/>
          <a:p>
            <a:pPr marL="0" indent="0">
              <a:buNone/>
            </a:pPr>
            <a:r>
              <a:rPr lang="en-US" sz="1250" dirty="0">
                <a:solidFill>
                  <a:srgbClr val="243B53"/>
                </a:solidFill>
              </a:rPr>
              <a:t>Tsui, F., Karam, O., &amp; Bernal, B. (2018). Essentials of software engineering (4th ed.). Jones &amp; Bartlett Learning.</a:t>
            </a:r>
            <a:endParaRPr lang="en-US" sz="1250" dirty="0"/>
          </a:p>
        </p:txBody>
      </p:sp>
      <p:sp>
        <p:nvSpPr>
          <p:cNvPr id="10" name="Text 8"/>
          <p:cNvSpPr/>
          <p:nvPr/>
        </p:nvSpPr>
        <p:spPr>
          <a:xfrm>
            <a:off x="914400" y="5897880"/>
            <a:ext cx="10149840" cy="274320"/>
          </a:xfrm>
          <a:prstGeom prst="rect">
            <a:avLst/>
          </a:prstGeom>
          <a:noFill/>
          <a:ln/>
        </p:spPr>
        <p:txBody>
          <a:bodyPr wrap="square" lIns="0" tIns="0" rIns="0" bIns="0" rtlCol="0" anchor="ctr"/>
          <a:lstStyle/>
          <a:p>
            <a:pPr marL="0" indent="0" algn="ctr">
              <a:buNone/>
            </a:pPr>
            <a:r>
              <a:rPr lang="en-US" sz="1050" i="1" dirty="0">
                <a:solidFill>
                  <a:srgbClr val="486581"/>
                </a:solidFill>
              </a:rPr>
              <a:t>The final presentation combines the actual website, database, PHP, and UML artifacts from the project materials.</a:t>
            </a:r>
            <a:endParaRPr lang="en-US" sz="1050" dirty="0"/>
          </a:p>
        </p:txBody>
      </p:sp>
      <p:sp>
        <p:nvSpPr>
          <p:cNvPr id="25" name="Slide Number Placeholder 0"/>
          <p:cNvSpPr>
            <a:spLocks noGrp="1"/>
          </p:cNvSpPr>
          <p:nvPr>
            <p:ph type="sldNum" sz="quarter" idx="4294967295"/>
          </p:nvPr>
        </p:nvSpPr>
        <p:spPr>
          <a:xfrm>
            <a:off x="11795760" y="645566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27D98"/>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Arizona Global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Course Registration System</dc:title>
  <dc:subject>CST499 Final Project Presentation</dc:subject>
  <dc:creator>Jomar P. Quiban</dc:creator>
  <cp:lastModifiedBy>Jomar P. Quiban</cp:lastModifiedBy>
  <cp:revision>85</cp:revision>
  <dcterms:created xsi:type="dcterms:W3CDTF">2026-09-06T07:32:46Z</dcterms:created>
  <dcterms:modified xsi:type="dcterms:W3CDTF">2026-09-07T00:25:16Z</dcterms:modified>
</cp:coreProperties>
</file>